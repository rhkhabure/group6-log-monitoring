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100"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83607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We are Group 6, and today we'll walk you through our Centralized Log Monitoring System project for Big Data Security.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objective was to build a centralized log monitoring system that collects logs from different sources into one platform. Instead of checking logs separately, administrators can monitor everything through one dashboard and quickly identify suspicious activities.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Docker to deploy the entire environment. Logs were generated from SSH, web server, and application sources. OpenSearch was used to store and index the logs, while OpenSearch Dashboards allowed visualization.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using a public dataset, we generated our own dataset using Python. This allowed us to simulate realistic security events while meeting the assignment requirement of at least 100,000 records.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starts with multiple log sources. The Python ingestion script reads and processes the logs before sending them to OpenSearch using its REST API. OpenSearch indexes the logs, and OpenSearch Dashboards displays them through visual dashboards.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you can see the ingestion script actively pushing SSH, web, and application logs into OpenSearch through the REST API on port 9200.</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successfully implemented centralized logging and monitoring. While authentication and encryption were not fully configured in this educational project, they were identified as important improvements for production deployment.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allows administrators to search, filter, and analyze logs. Here we see the Discover view with indexed logs, and a visualization dashboard summarizing overall activity.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testing, we were able to identify failed login attempts and suspicious authentication activity, demonstrating the effectiveness of centralized monitoring in near real time.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conducted several security tests to verify that logs were collected correctly, indexed into OpenSearch, and displayed on the dashboard. We also confirmed that failed login attempts could be detected successfully.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security assessment showed that while the system functions correctly, several security improvements are necessary before production deployment. These include enabling authentication, encryption, and access controls.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project successfully met the assignment objectives by implementing centralized log collection, visualization, and attack detection. The recommendations we proposed would further strengthen the system's security and reliability in a real-world environment. Thank you — we're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141B47"/>
          </a:solidFill>
          <a:ln/>
        </p:spPr>
        <p:txBody>
          <a:bodyPr/>
          <a:lstStyle/>
          <a:p>
            <a:endParaRPr lang="en-KE"/>
          </a:p>
        </p:txBody>
      </p:sp>
      <p:sp>
        <p:nvSpPr>
          <p:cNvPr id="3" name="Shape 1"/>
          <p:cNvSpPr/>
          <p:nvPr/>
        </p:nvSpPr>
        <p:spPr>
          <a:xfrm>
            <a:off x="-2194560" y="4389120"/>
            <a:ext cx="4754880" cy="4754880"/>
          </a:xfrm>
          <a:prstGeom prst="ellipse">
            <a:avLst/>
          </a:prstGeom>
          <a:solidFill>
            <a:srgbClr val="028090"/>
          </a:solidFill>
          <a:ln/>
        </p:spPr>
        <p:txBody>
          <a:bodyPr/>
          <a:lstStyle/>
          <a:p>
            <a:endParaRPr lang="en-KE"/>
          </a:p>
        </p:txBody>
      </p:sp>
      <p:sp>
        <p:nvSpPr>
          <p:cNvPr id="4" name="Shape 2"/>
          <p:cNvSpPr/>
          <p:nvPr/>
        </p:nvSpPr>
        <p:spPr>
          <a:xfrm>
            <a:off x="685800" y="822960"/>
            <a:ext cx="566928" cy="566928"/>
          </a:xfrm>
          <a:prstGeom prst="ellipse">
            <a:avLst/>
          </a:prstGeom>
          <a:solidFill>
            <a:srgbClr val="02C39A"/>
          </a:solidFill>
          <a:ln/>
        </p:spPr>
        <p:txBody>
          <a:bodyPr/>
          <a:lstStyle/>
          <a:p>
            <a:endParaRPr lang="en-KE"/>
          </a:p>
        </p:txBody>
      </p:sp>
      <p:sp>
        <p:nvSpPr>
          <p:cNvPr id="5" name="Text 3"/>
          <p:cNvSpPr/>
          <p:nvPr/>
        </p:nvSpPr>
        <p:spPr>
          <a:xfrm>
            <a:off x="685800" y="822960"/>
            <a:ext cx="566928" cy="566928"/>
          </a:xfrm>
          <a:prstGeom prst="rect">
            <a:avLst/>
          </a:prstGeom>
          <a:noFill/>
          <a:ln/>
        </p:spPr>
        <p:txBody>
          <a:bodyPr wrap="square"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a:t>
            </a:r>
            <a:endParaRPr lang="en-US" sz="2000" dirty="0"/>
          </a:p>
        </p:txBody>
      </p:sp>
      <p:sp>
        <p:nvSpPr>
          <p:cNvPr id="6" name="Text 4"/>
          <p:cNvSpPr/>
          <p:nvPr/>
        </p:nvSpPr>
        <p:spPr>
          <a:xfrm>
            <a:off x="1417320" y="841248"/>
            <a:ext cx="7315200" cy="457200"/>
          </a:xfrm>
          <a:prstGeom prst="rect">
            <a:avLst/>
          </a:prstGeom>
          <a:noFill/>
          <a:ln/>
        </p:spPr>
        <p:txBody>
          <a:bodyPr wrap="square" rtlCol="0" anchor="ctr"/>
          <a:lstStyle/>
          <a:p>
            <a:pPr marL="0" indent="0">
              <a:buNone/>
            </a:pPr>
            <a:r>
              <a:rPr lang="en-US" sz="1400" b="1" kern="0" spc="200" dirty="0">
                <a:solidFill>
                  <a:srgbClr val="CADCFC"/>
                </a:solidFill>
                <a:latin typeface="Calibri" pitchFamily="34" charset="0"/>
                <a:ea typeface="Calibri" pitchFamily="34" charset="-122"/>
                <a:cs typeface="Calibri" pitchFamily="34" charset="-120"/>
              </a:rPr>
              <a:t>BIG DATA SECURITY  •  GROUP 6</a:t>
            </a:r>
            <a:endParaRPr lang="en-US" sz="1400" dirty="0"/>
          </a:p>
        </p:txBody>
      </p:sp>
      <p:sp>
        <p:nvSpPr>
          <p:cNvPr id="7" name="Text 5"/>
          <p:cNvSpPr/>
          <p:nvPr/>
        </p:nvSpPr>
        <p:spPr>
          <a:xfrm>
            <a:off x="685800" y="2286000"/>
            <a:ext cx="9875520" cy="2011680"/>
          </a:xfrm>
          <a:prstGeom prst="rect">
            <a:avLst/>
          </a:prstGeom>
          <a:noFill/>
          <a:ln/>
        </p:spPr>
        <p:txBody>
          <a:bodyPr wrap="square" rtlCol="0" anchor="ctr"/>
          <a:lstStyle/>
          <a:p>
            <a:pPr marL="0" indent="0">
              <a:lnSpc>
                <a:spcPts val="5000"/>
              </a:lnSpc>
              <a:buNone/>
            </a:pPr>
            <a:r>
              <a:rPr lang="en-US" sz="4600" b="1" dirty="0">
                <a:solidFill>
                  <a:srgbClr val="FFFFFF"/>
                </a:solidFill>
                <a:latin typeface="Cambria" pitchFamily="34" charset="0"/>
                <a:ea typeface="Cambria" pitchFamily="34" charset="-122"/>
                <a:cs typeface="Cambria" pitchFamily="34" charset="-120"/>
              </a:rPr>
              <a:t>Centralized Log</a:t>
            </a:r>
            <a:endParaRPr lang="en-US" sz="4600" dirty="0"/>
          </a:p>
          <a:p>
            <a:pPr marL="0" indent="0">
              <a:lnSpc>
                <a:spcPts val="5000"/>
              </a:lnSpc>
              <a:buNone/>
            </a:pPr>
            <a:r>
              <a:rPr lang="en-US" sz="4600" b="1" dirty="0">
                <a:solidFill>
                  <a:srgbClr val="FFFFFF"/>
                </a:solidFill>
                <a:latin typeface="Cambria" pitchFamily="34" charset="0"/>
                <a:ea typeface="Cambria" pitchFamily="34" charset="-122"/>
                <a:cs typeface="Cambria" pitchFamily="34" charset="-120"/>
              </a:rPr>
              <a:t>Monitoring System</a:t>
            </a:r>
            <a:endParaRPr lang="en-US" sz="4600" dirty="0"/>
          </a:p>
        </p:txBody>
      </p:sp>
      <p:sp>
        <p:nvSpPr>
          <p:cNvPr id="8" name="Text 6"/>
          <p:cNvSpPr/>
          <p:nvPr/>
        </p:nvSpPr>
        <p:spPr>
          <a:xfrm>
            <a:off x="713232" y="4160520"/>
            <a:ext cx="8686800" cy="822960"/>
          </a:xfrm>
          <a:prstGeom prst="rect">
            <a:avLst/>
          </a:prstGeom>
          <a:noFill/>
          <a:ln/>
        </p:spPr>
        <p:txBody>
          <a:bodyPr wrap="square" rtlCol="0" anchor="ctr"/>
          <a:lstStyle/>
          <a:p>
            <a:pPr marL="0" indent="0">
              <a:lnSpc>
                <a:spcPts val="2200"/>
              </a:lnSpc>
              <a:buNone/>
            </a:pPr>
            <a:r>
              <a:rPr lang="en-US" sz="1550" dirty="0">
                <a:solidFill>
                  <a:srgbClr val="CADCFC"/>
                </a:solidFill>
                <a:latin typeface="Calibri" pitchFamily="34" charset="0"/>
                <a:ea typeface="Calibri" pitchFamily="34" charset="-122"/>
                <a:cs typeface="Calibri" pitchFamily="34" charset="-120"/>
              </a:rPr>
              <a:t>Collecting, indexing, and visualizing security logs from SSH, web, and application</a:t>
            </a:r>
            <a:endParaRPr lang="en-US" sz="1550" dirty="0"/>
          </a:p>
          <a:p>
            <a:pPr marL="0" indent="0">
              <a:lnSpc>
                <a:spcPts val="2200"/>
              </a:lnSpc>
              <a:buNone/>
            </a:pPr>
            <a:r>
              <a:rPr lang="en-US" sz="1550" dirty="0">
                <a:solidFill>
                  <a:srgbClr val="CADCFC"/>
                </a:solidFill>
                <a:latin typeface="Calibri" pitchFamily="34" charset="0"/>
                <a:ea typeface="Calibri" pitchFamily="34" charset="-122"/>
                <a:cs typeface="Calibri" pitchFamily="34" charset="-120"/>
              </a:rPr>
              <a:t>sources for real-time threat detection</a:t>
            </a:r>
            <a:endParaRPr lang="en-US" sz="1550" dirty="0"/>
          </a:p>
        </p:txBody>
      </p:sp>
      <p:sp>
        <p:nvSpPr>
          <p:cNvPr id="9" name="Shape 7"/>
          <p:cNvSpPr/>
          <p:nvPr/>
        </p:nvSpPr>
        <p:spPr>
          <a:xfrm>
            <a:off x="713232" y="5212080"/>
            <a:ext cx="5120640" cy="0"/>
          </a:xfrm>
          <a:prstGeom prst="line">
            <a:avLst/>
          </a:prstGeom>
          <a:noFill/>
          <a:ln w="19050">
            <a:solidFill>
              <a:srgbClr val="028090"/>
            </a:solidFill>
            <a:prstDash val="solid"/>
          </a:ln>
        </p:spPr>
        <p:txBody>
          <a:bodyPr/>
          <a:lstStyle/>
          <a:p>
            <a:endParaRPr lang="en-KE"/>
          </a:p>
        </p:txBody>
      </p:sp>
      <p:sp>
        <p:nvSpPr>
          <p:cNvPr id="10" name="Text 8"/>
          <p:cNvSpPr/>
          <p:nvPr/>
        </p:nvSpPr>
        <p:spPr>
          <a:xfrm>
            <a:off x="713232" y="5349240"/>
            <a:ext cx="3657600" cy="274320"/>
          </a:xfrm>
          <a:prstGeom prst="rect">
            <a:avLst/>
          </a:prstGeom>
          <a:noFill/>
          <a:ln/>
        </p:spPr>
        <p:txBody>
          <a:bodyPr wrap="square" rtlCol="0" anchor="ctr"/>
          <a:lstStyle/>
          <a:p>
            <a:pPr marL="0" indent="0">
              <a:buNone/>
            </a:pPr>
            <a:r>
              <a:rPr lang="en-US" sz="1100" b="1" kern="0" spc="200" dirty="0">
                <a:solidFill>
                  <a:srgbClr val="02C39A"/>
                </a:solidFill>
                <a:latin typeface="Calibri" pitchFamily="34" charset="0"/>
                <a:ea typeface="Calibri" pitchFamily="34" charset="-122"/>
                <a:cs typeface="Calibri" pitchFamily="34" charset="-120"/>
              </a:rPr>
              <a:t>PRESENTED BY</a:t>
            </a:r>
            <a:endParaRPr lang="en-US" sz="1100" dirty="0"/>
          </a:p>
        </p:txBody>
      </p:sp>
      <p:sp>
        <p:nvSpPr>
          <p:cNvPr id="11" name="Text 9"/>
          <p:cNvSpPr/>
          <p:nvPr/>
        </p:nvSpPr>
        <p:spPr>
          <a:xfrm>
            <a:off x="713232" y="5669280"/>
            <a:ext cx="10058400" cy="36576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Halima Mohammed   </a:t>
            </a:r>
            <a:r>
              <a:rPr lang="en-US" sz="1400">
                <a:solidFill>
                  <a:srgbClr val="FFFFFF"/>
                </a:solidFill>
                <a:latin typeface="Calibri" pitchFamily="34" charset="0"/>
                <a:ea typeface="Calibri" pitchFamily="34" charset="-122"/>
                <a:cs typeface="Calibri" pitchFamily="34" charset="-120"/>
              </a:rPr>
              <a:t>•   Howard </a:t>
            </a:r>
            <a:r>
              <a:rPr lang="en-US" sz="1400" dirty="0">
                <a:solidFill>
                  <a:srgbClr val="FFFFFF"/>
                </a:solidFill>
                <a:latin typeface="Calibri" pitchFamily="34" charset="0"/>
                <a:ea typeface="Calibri" pitchFamily="34" charset="-122"/>
                <a:cs typeface="Calibri" pitchFamily="34" charset="-120"/>
              </a:rPr>
              <a:t>Muchaki   •   Arlen Ngahu</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92608"/>
          </a:xfrm>
          <a:prstGeom prst="rect">
            <a:avLst/>
          </a:prstGeom>
          <a:noFill/>
          <a:ln/>
        </p:spPr>
        <p:txBody>
          <a:bodyPr wrap="square"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INTRODUCTION</a:t>
            </a:r>
            <a:endParaRPr lang="en-US" sz="1300" dirty="0"/>
          </a:p>
        </p:txBody>
      </p:sp>
      <p:sp>
        <p:nvSpPr>
          <p:cNvPr id="3" name="Text 1"/>
          <p:cNvSpPr/>
          <p:nvPr/>
        </p:nvSpPr>
        <p:spPr>
          <a:xfrm>
            <a:off x="548640" y="566928"/>
            <a:ext cx="10789920" cy="658368"/>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Project Overview</a:t>
            </a:r>
            <a:endParaRPr lang="en-US" sz="3000" dirty="0"/>
          </a:p>
        </p:txBody>
      </p:sp>
      <p:sp>
        <p:nvSpPr>
          <p:cNvPr id="4" name="Shape 2"/>
          <p:cNvSpPr/>
          <p:nvPr/>
        </p:nvSpPr>
        <p:spPr>
          <a:xfrm>
            <a:off x="548640" y="1508760"/>
            <a:ext cx="5532120" cy="4663440"/>
          </a:xfrm>
          <a:prstGeom prst="roundRect">
            <a:avLst>
              <a:gd name="adj" fmla="val 1765"/>
            </a:avLst>
          </a:prstGeom>
          <a:solidFill>
            <a:srgbClr val="FFFFFF"/>
          </a:solidFill>
          <a:ln w="12700">
            <a:solidFill>
              <a:srgbClr val="E2E8F0"/>
            </a:solidFill>
            <a:prstDash val="solid"/>
          </a:ln>
        </p:spPr>
        <p:txBody>
          <a:bodyPr/>
          <a:lstStyle/>
          <a:p>
            <a:endParaRPr lang="en-KE"/>
          </a:p>
        </p:txBody>
      </p:sp>
      <p:sp>
        <p:nvSpPr>
          <p:cNvPr id="5" name="Shape 3"/>
          <p:cNvSpPr/>
          <p:nvPr/>
        </p:nvSpPr>
        <p:spPr>
          <a:xfrm>
            <a:off x="868680" y="1828800"/>
            <a:ext cx="457200" cy="457200"/>
          </a:xfrm>
          <a:prstGeom prst="ellipse">
            <a:avLst/>
          </a:prstGeom>
          <a:solidFill>
            <a:srgbClr val="028090"/>
          </a:solidFill>
          <a:ln/>
        </p:spPr>
        <p:txBody>
          <a:bodyPr/>
          <a:lstStyle/>
          <a:p>
            <a:endParaRPr lang="en-KE"/>
          </a:p>
        </p:txBody>
      </p:sp>
      <p:sp>
        <p:nvSpPr>
          <p:cNvPr id="6" name="Text 4"/>
          <p:cNvSpPr/>
          <p:nvPr/>
        </p:nvSpPr>
        <p:spPr>
          <a:xfrm>
            <a:off x="868680" y="1828800"/>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ℹ</a:t>
            </a:r>
            <a:endParaRPr lang="en-US" sz="1600" dirty="0"/>
          </a:p>
        </p:txBody>
      </p:sp>
      <p:sp>
        <p:nvSpPr>
          <p:cNvPr id="7" name="Text 5"/>
          <p:cNvSpPr/>
          <p:nvPr/>
        </p:nvSpPr>
        <p:spPr>
          <a:xfrm>
            <a:off x="1463040" y="1810512"/>
            <a:ext cx="4389120" cy="365760"/>
          </a:xfrm>
          <a:prstGeom prst="rect">
            <a:avLst/>
          </a:prstGeom>
          <a:noFill/>
          <a:ln/>
        </p:spPr>
        <p:txBody>
          <a:bodyPr wrap="square" rtlCol="0" anchor="ctr"/>
          <a:lstStyle/>
          <a:p>
            <a:pPr marL="0" indent="0">
              <a:buNone/>
            </a:pPr>
            <a:r>
              <a:rPr lang="en-US" sz="1800" b="1" dirty="0">
                <a:solidFill>
                  <a:srgbClr val="1E2761"/>
                </a:solidFill>
                <a:latin typeface="Cambria" pitchFamily="34" charset="0"/>
                <a:ea typeface="Cambria" pitchFamily="34" charset="-122"/>
                <a:cs typeface="Cambria" pitchFamily="34" charset="-120"/>
              </a:rPr>
              <a:t>Background</a:t>
            </a:r>
            <a:endParaRPr lang="en-US" sz="1800" dirty="0"/>
          </a:p>
        </p:txBody>
      </p:sp>
      <p:sp>
        <p:nvSpPr>
          <p:cNvPr id="8" name="Text 6"/>
          <p:cNvSpPr/>
          <p:nvPr/>
        </p:nvSpPr>
        <p:spPr>
          <a:xfrm>
            <a:off x="868680" y="2423160"/>
            <a:ext cx="4937760" cy="3566160"/>
          </a:xfrm>
          <a:prstGeom prst="rect">
            <a:avLst/>
          </a:prstGeom>
          <a:noFill/>
          <a:ln/>
        </p:spPr>
        <p:txBody>
          <a:bodyPr wrap="square" rtlCol="0" anchor="ctr"/>
          <a:lstStyle/>
          <a:p>
            <a:pPr marL="0" indent="0">
              <a:lnSpc>
                <a:spcPts val="2200"/>
              </a:lnSpc>
              <a:buNone/>
            </a:pPr>
            <a:r>
              <a:rPr lang="en-US" sz="1400" dirty="0">
                <a:solidFill>
                  <a:srgbClr val="1A1A2E"/>
                </a:solidFill>
                <a:latin typeface="Calibri" pitchFamily="34" charset="0"/>
                <a:ea typeface="Calibri" pitchFamily="34" charset="-122"/>
                <a:cs typeface="Calibri" pitchFamily="34" charset="-120"/>
              </a:rPr>
              <a:t>Organizations generate thousands of log records every day from servers, applications, and network devices. These logs hold vital clues about user activity, system performance, and potential security threats.</a:t>
            </a:r>
            <a:endParaRPr lang="en-US" sz="1400" dirty="0"/>
          </a:p>
          <a:p>
            <a:pPr marL="0" indent="0">
              <a:lnSpc>
                <a:spcPts val="2200"/>
              </a:lnSpc>
              <a:buNone/>
            </a:pPr>
            <a:endParaRPr lang="en-US" sz="1400" dirty="0"/>
          </a:p>
          <a:p>
            <a:pPr marL="0" indent="0">
              <a:lnSpc>
                <a:spcPts val="2200"/>
              </a:lnSpc>
              <a:buNone/>
            </a:pPr>
            <a:r>
              <a:rPr lang="en-US" sz="1400" dirty="0">
                <a:solidFill>
                  <a:srgbClr val="1A1A2E"/>
                </a:solidFill>
                <a:latin typeface="Calibri" pitchFamily="34" charset="0"/>
                <a:ea typeface="Calibri" pitchFamily="34" charset="-122"/>
                <a:cs typeface="Calibri" pitchFamily="34" charset="-120"/>
              </a:rPr>
              <a:t>Monitoring each source individually is inefficient and makes it difficult to detect attacks quickly — the motivation for a single, centralized view.</a:t>
            </a:r>
            <a:endParaRPr lang="en-US" sz="1400" dirty="0"/>
          </a:p>
        </p:txBody>
      </p:sp>
      <p:sp>
        <p:nvSpPr>
          <p:cNvPr id="9" name="Shape 7"/>
          <p:cNvSpPr/>
          <p:nvPr/>
        </p:nvSpPr>
        <p:spPr>
          <a:xfrm>
            <a:off x="6263640" y="1508760"/>
            <a:ext cx="5349240" cy="4663440"/>
          </a:xfrm>
          <a:prstGeom prst="roundRect">
            <a:avLst>
              <a:gd name="adj" fmla="val 1765"/>
            </a:avLst>
          </a:prstGeom>
          <a:solidFill>
            <a:srgbClr val="1E2761"/>
          </a:solidFill>
          <a:ln/>
        </p:spPr>
        <p:txBody>
          <a:bodyPr/>
          <a:lstStyle/>
          <a:p>
            <a:endParaRPr lang="en-KE"/>
          </a:p>
        </p:txBody>
      </p:sp>
      <p:sp>
        <p:nvSpPr>
          <p:cNvPr id="10" name="Text 8"/>
          <p:cNvSpPr/>
          <p:nvPr/>
        </p:nvSpPr>
        <p:spPr>
          <a:xfrm>
            <a:off x="6629400" y="1783080"/>
            <a:ext cx="4572000" cy="365760"/>
          </a:xfrm>
          <a:prstGeom prst="rect">
            <a:avLst/>
          </a:prstGeom>
          <a:noFill/>
          <a:ln/>
        </p:spPr>
        <p:txBody>
          <a:bodyPr wrap="square"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Project Objective</a:t>
            </a:r>
            <a:endParaRPr lang="en-US" sz="1800" dirty="0"/>
          </a:p>
        </p:txBody>
      </p:sp>
      <p:sp>
        <p:nvSpPr>
          <p:cNvPr id="11" name="Text 9"/>
          <p:cNvSpPr/>
          <p:nvPr/>
        </p:nvSpPr>
        <p:spPr>
          <a:xfrm>
            <a:off x="6629400" y="2212848"/>
            <a:ext cx="4663440" cy="365760"/>
          </a:xfrm>
          <a:prstGeom prst="rect">
            <a:avLst/>
          </a:prstGeom>
          <a:noFill/>
          <a:ln/>
        </p:spPr>
        <p:txBody>
          <a:bodyPr wrap="square" rtlCol="0" anchor="ctr"/>
          <a:lstStyle/>
          <a:p>
            <a:pPr marL="0" indent="0">
              <a:buNone/>
            </a:pPr>
            <a:r>
              <a:rPr lang="en-US" sz="1300" i="1" dirty="0">
                <a:solidFill>
                  <a:srgbClr val="CADCFC"/>
                </a:solidFill>
                <a:latin typeface="Calibri" pitchFamily="34" charset="0"/>
                <a:ea typeface="Calibri" pitchFamily="34" charset="-122"/>
                <a:cs typeface="Calibri" pitchFamily="34" charset="-120"/>
              </a:rPr>
              <a:t>To build a centralized log monitoring system that:</a:t>
            </a:r>
            <a:endParaRPr lang="en-US" sz="1300" dirty="0"/>
          </a:p>
        </p:txBody>
      </p:sp>
      <p:sp>
        <p:nvSpPr>
          <p:cNvPr id="12" name="Shape 10"/>
          <p:cNvSpPr/>
          <p:nvPr/>
        </p:nvSpPr>
        <p:spPr>
          <a:xfrm>
            <a:off x="6629400" y="2743200"/>
            <a:ext cx="365760" cy="365760"/>
          </a:xfrm>
          <a:prstGeom prst="ellipse">
            <a:avLst/>
          </a:prstGeom>
          <a:solidFill>
            <a:srgbClr val="02C39A"/>
          </a:solidFill>
          <a:ln/>
        </p:spPr>
        <p:txBody>
          <a:bodyPr/>
          <a:lstStyle/>
          <a:p>
            <a:endParaRPr lang="en-KE"/>
          </a:p>
        </p:txBody>
      </p:sp>
      <p:sp>
        <p:nvSpPr>
          <p:cNvPr id="13" name="Text 11"/>
          <p:cNvSpPr/>
          <p:nvPr/>
        </p:nvSpPr>
        <p:spPr>
          <a:xfrm>
            <a:off x="6629400" y="2743200"/>
            <a:ext cx="365760" cy="365760"/>
          </a:xfrm>
          <a:prstGeom prst="rect">
            <a:avLst/>
          </a:prstGeom>
          <a:noFill/>
          <a:ln/>
        </p:spPr>
        <p:txBody>
          <a:bodyPr wrap="square"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a:t>
            </a:r>
            <a:endParaRPr lang="en-US" sz="1400" dirty="0"/>
          </a:p>
        </p:txBody>
      </p:sp>
      <p:sp>
        <p:nvSpPr>
          <p:cNvPr id="14" name="Text 12"/>
          <p:cNvSpPr/>
          <p:nvPr/>
        </p:nvSpPr>
        <p:spPr>
          <a:xfrm>
            <a:off x="7178040" y="2715768"/>
            <a:ext cx="4297680" cy="420624"/>
          </a:xfrm>
          <a:prstGeom prst="rect">
            <a:avLst/>
          </a:prstGeom>
          <a:noFill/>
          <a:ln/>
        </p:spPr>
        <p:txBody>
          <a:bodyPr wrap="square" rtlCol="0" anchor="ctr"/>
          <a:lstStyle/>
          <a:p>
            <a:pPr marL="0" indent="0">
              <a:buNone/>
            </a:pPr>
            <a:r>
              <a:rPr lang="en-US" sz="1350" b="1" dirty="0">
                <a:solidFill>
                  <a:srgbClr val="02C39A"/>
                </a:solidFill>
                <a:latin typeface="Calibri" pitchFamily="34" charset="0"/>
                <a:ea typeface="Calibri" pitchFamily="34" charset="-122"/>
                <a:cs typeface="Calibri" pitchFamily="34" charset="-120"/>
              </a:rPr>
              <a:t>Collects  </a:t>
            </a:r>
            <a:r>
              <a:rPr lang="en-US" sz="1350" dirty="0">
                <a:solidFill>
                  <a:srgbClr val="FFFFFF"/>
                </a:solidFill>
                <a:latin typeface="Calibri" pitchFamily="34" charset="0"/>
                <a:ea typeface="Calibri" pitchFamily="34" charset="-122"/>
                <a:cs typeface="Calibri" pitchFamily="34" charset="-120"/>
              </a:rPr>
              <a:t>logs from multiple sources</a:t>
            </a:r>
            <a:endParaRPr lang="en-US" sz="1350" dirty="0"/>
          </a:p>
        </p:txBody>
      </p:sp>
      <p:sp>
        <p:nvSpPr>
          <p:cNvPr id="15" name="Shape 13"/>
          <p:cNvSpPr/>
          <p:nvPr/>
        </p:nvSpPr>
        <p:spPr>
          <a:xfrm>
            <a:off x="6629400" y="3310128"/>
            <a:ext cx="365760" cy="365760"/>
          </a:xfrm>
          <a:prstGeom prst="ellipse">
            <a:avLst/>
          </a:prstGeom>
          <a:solidFill>
            <a:srgbClr val="02C39A"/>
          </a:solidFill>
          <a:ln/>
        </p:spPr>
        <p:txBody>
          <a:bodyPr/>
          <a:lstStyle/>
          <a:p>
            <a:endParaRPr lang="en-KE"/>
          </a:p>
        </p:txBody>
      </p:sp>
      <p:sp>
        <p:nvSpPr>
          <p:cNvPr id="16" name="Text 14"/>
          <p:cNvSpPr/>
          <p:nvPr/>
        </p:nvSpPr>
        <p:spPr>
          <a:xfrm>
            <a:off x="6629400" y="3310128"/>
            <a:ext cx="365760" cy="365760"/>
          </a:xfrm>
          <a:prstGeom prst="rect">
            <a:avLst/>
          </a:prstGeom>
          <a:noFill/>
          <a:ln/>
        </p:spPr>
        <p:txBody>
          <a:bodyPr wrap="square"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a:t>
            </a:r>
            <a:endParaRPr lang="en-US" sz="1400" dirty="0"/>
          </a:p>
        </p:txBody>
      </p:sp>
      <p:sp>
        <p:nvSpPr>
          <p:cNvPr id="17" name="Text 15"/>
          <p:cNvSpPr/>
          <p:nvPr/>
        </p:nvSpPr>
        <p:spPr>
          <a:xfrm>
            <a:off x="7178040" y="3282696"/>
            <a:ext cx="4297680" cy="420624"/>
          </a:xfrm>
          <a:prstGeom prst="rect">
            <a:avLst/>
          </a:prstGeom>
          <a:noFill/>
          <a:ln/>
        </p:spPr>
        <p:txBody>
          <a:bodyPr wrap="square" rtlCol="0" anchor="ctr"/>
          <a:lstStyle/>
          <a:p>
            <a:pPr marL="0" indent="0">
              <a:buNone/>
            </a:pPr>
            <a:r>
              <a:rPr lang="en-US" sz="1350" b="1" dirty="0">
                <a:solidFill>
                  <a:srgbClr val="02C39A"/>
                </a:solidFill>
                <a:latin typeface="Calibri" pitchFamily="34" charset="0"/>
                <a:ea typeface="Calibri" pitchFamily="34" charset="-122"/>
                <a:cs typeface="Calibri" pitchFamily="34" charset="-120"/>
              </a:rPr>
              <a:t>Detects  </a:t>
            </a:r>
            <a:r>
              <a:rPr lang="en-US" sz="1350" dirty="0">
                <a:solidFill>
                  <a:srgbClr val="FFFFFF"/>
                </a:solidFill>
                <a:latin typeface="Calibri" pitchFamily="34" charset="0"/>
                <a:ea typeface="Calibri" pitchFamily="34" charset="-122"/>
                <a:cs typeface="Calibri" pitchFamily="34" charset="-120"/>
              </a:rPr>
              <a:t>failed logins &amp; suspicious activity</a:t>
            </a:r>
            <a:endParaRPr lang="en-US" sz="1350" dirty="0"/>
          </a:p>
        </p:txBody>
      </p:sp>
      <p:sp>
        <p:nvSpPr>
          <p:cNvPr id="18" name="Shape 16"/>
          <p:cNvSpPr/>
          <p:nvPr/>
        </p:nvSpPr>
        <p:spPr>
          <a:xfrm>
            <a:off x="6629400" y="3877056"/>
            <a:ext cx="365760" cy="365760"/>
          </a:xfrm>
          <a:prstGeom prst="ellipse">
            <a:avLst/>
          </a:prstGeom>
          <a:solidFill>
            <a:srgbClr val="02C39A"/>
          </a:solidFill>
          <a:ln/>
        </p:spPr>
        <p:txBody>
          <a:bodyPr/>
          <a:lstStyle/>
          <a:p>
            <a:endParaRPr lang="en-KE"/>
          </a:p>
        </p:txBody>
      </p:sp>
      <p:sp>
        <p:nvSpPr>
          <p:cNvPr id="19" name="Text 17"/>
          <p:cNvSpPr/>
          <p:nvPr/>
        </p:nvSpPr>
        <p:spPr>
          <a:xfrm>
            <a:off x="6629400" y="3877056"/>
            <a:ext cx="365760" cy="365760"/>
          </a:xfrm>
          <a:prstGeom prst="rect">
            <a:avLst/>
          </a:prstGeom>
          <a:noFill/>
          <a:ln/>
        </p:spPr>
        <p:txBody>
          <a:bodyPr wrap="square"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a:t>
            </a:r>
            <a:endParaRPr lang="en-US" sz="1400" dirty="0"/>
          </a:p>
        </p:txBody>
      </p:sp>
      <p:sp>
        <p:nvSpPr>
          <p:cNvPr id="20" name="Text 18"/>
          <p:cNvSpPr/>
          <p:nvPr/>
        </p:nvSpPr>
        <p:spPr>
          <a:xfrm>
            <a:off x="7178040" y="3849624"/>
            <a:ext cx="4297680" cy="420624"/>
          </a:xfrm>
          <a:prstGeom prst="rect">
            <a:avLst/>
          </a:prstGeom>
          <a:noFill/>
          <a:ln/>
        </p:spPr>
        <p:txBody>
          <a:bodyPr wrap="square" rtlCol="0" anchor="ctr"/>
          <a:lstStyle/>
          <a:p>
            <a:pPr marL="0" indent="0">
              <a:buNone/>
            </a:pPr>
            <a:r>
              <a:rPr lang="en-US" sz="1350" b="1" dirty="0">
                <a:solidFill>
                  <a:srgbClr val="02C39A"/>
                </a:solidFill>
                <a:latin typeface="Calibri" pitchFamily="34" charset="0"/>
                <a:ea typeface="Calibri" pitchFamily="34" charset="-122"/>
                <a:cs typeface="Calibri" pitchFamily="34" charset="-120"/>
              </a:rPr>
              <a:t>Stores  </a:t>
            </a:r>
            <a:r>
              <a:rPr lang="en-US" sz="1350" dirty="0">
                <a:solidFill>
                  <a:srgbClr val="FFFFFF"/>
                </a:solidFill>
                <a:latin typeface="Calibri" pitchFamily="34" charset="0"/>
                <a:ea typeface="Calibri" pitchFamily="34" charset="-122"/>
                <a:cs typeface="Calibri" pitchFamily="34" charset="-120"/>
              </a:rPr>
              <a:t>logs in a central repository</a:t>
            </a:r>
            <a:endParaRPr lang="en-US" sz="1350" dirty="0"/>
          </a:p>
        </p:txBody>
      </p:sp>
      <p:sp>
        <p:nvSpPr>
          <p:cNvPr id="21" name="Shape 19"/>
          <p:cNvSpPr/>
          <p:nvPr/>
        </p:nvSpPr>
        <p:spPr>
          <a:xfrm>
            <a:off x="6629400" y="4443984"/>
            <a:ext cx="365760" cy="365760"/>
          </a:xfrm>
          <a:prstGeom prst="ellipse">
            <a:avLst/>
          </a:prstGeom>
          <a:solidFill>
            <a:srgbClr val="02C39A"/>
          </a:solidFill>
          <a:ln/>
        </p:spPr>
        <p:txBody>
          <a:bodyPr/>
          <a:lstStyle/>
          <a:p>
            <a:endParaRPr lang="en-KE"/>
          </a:p>
        </p:txBody>
      </p:sp>
      <p:sp>
        <p:nvSpPr>
          <p:cNvPr id="22" name="Text 20"/>
          <p:cNvSpPr/>
          <p:nvPr/>
        </p:nvSpPr>
        <p:spPr>
          <a:xfrm>
            <a:off x="6629400" y="4443984"/>
            <a:ext cx="365760" cy="365760"/>
          </a:xfrm>
          <a:prstGeom prst="rect">
            <a:avLst/>
          </a:prstGeom>
          <a:noFill/>
          <a:ln/>
        </p:spPr>
        <p:txBody>
          <a:bodyPr wrap="square"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a:t>
            </a:r>
            <a:endParaRPr lang="en-US" sz="1400" dirty="0"/>
          </a:p>
        </p:txBody>
      </p:sp>
      <p:sp>
        <p:nvSpPr>
          <p:cNvPr id="23" name="Text 21"/>
          <p:cNvSpPr/>
          <p:nvPr/>
        </p:nvSpPr>
        <p:spPr>
          <a:xfrm>
            <a:off x="7178040" y="4416552"/>
            <a:ext cx="4297680" cy="420624"/>
          </a:xfrm>
          <a:prstGeom prst="rect">
            <a:avLst/>
          </a:prstGeom>
          <a:noFill/>
          <a:ln/>
        </p:spPr>
        <p:txBody>
          <a:bodyPr wrap="square" rtlCol="0" anchor="ctr"/>
          <a:lstStyle/>
          <a:p>
            <a:pPr marL="0" indent="0">
              <a:buNone/>
            </a:pPr>
            <a:r>
              <a:rPr lang="en-US" sz="1350" b="1" dirty="0">
                <a:solidFill>
                  <a:srgbClr val="02C39A"/>
                </a:solidFill>
                <a:latin typeface="Calibri" pitchFamily="34" charset="0"/>
                <a:ea typeface="Calibri" pitchFamily="34" charset="-122"/>
                <a:cs typeface="Calibri" pitchFamily="34" charset="-120"/>
              </a:rPr>
              <a:t>Visualizes  </a:t>
            </a:r>
            <a:r>
              <a:rPr lang="en-US" sz="1350" dirty="0">
                <a:solidFill>
                  <a:srgbClr val="FFFFFF"/>
                </a:solidFill>
                <a:latin typeface="Calibri" pitchFamily="34" charset="0"/>
                <a:ea typeface="Calibri" pitchFamily="34" charset="-122"/>
                <a:cs typeface="Calibri" pitchFamily="34" charset="-120"/>
              </a:rPr>
              <a:t>activity through live dashboards</a:t>
            </a:r>
            <a:endParaRPr lang="en-US" sz="1350" dirty="0"/>
          </a:p>
        </p:txBody>
      </p:sp>
      <p:sp>
        <p:nvSpPr>
          <p:cNvPr id="24" name="Text 22"/>
          <p:cNvSpPr/>
          <p:nvPr/>
        </p:nvSpPr>
        <p:spPr>
          <a:xfrm>
            <a:off x="548640" y="6528816"/>
            <a:ext cx="7315200" cy="256032"/>
          </a:xfrm>
          <a:prstGeom prst="rect">
            <a:avLst/>
          </a:prstGeom>
          <a:noFill/>
          <a:ln/>
        </p:spPr>
        <p:txBody>
          <a:bodyPr wrap="square" rtlCol="0" anchor="ctr"/>
          <a:lstStyle/>
          <a:p>
            <a:pPr marL="0" indent="0">
              <a:buNone/>
            </a:pPr>
            <a:r>
              <a:rPr lang="en-US" sz="950" dirty="0">
                <a:solidFill>
                  <a:srgbClr val="9AA6C9"/>
                </a:solidFill>
                <a:latin typeface="Calibri" pitchFamily="34" charset="0"/>
                <a:ea typeface="Calibri" pitchFamily="34" charset="-122"/>
                <a:cs typeface="Calibri" pitchFamily="34" charset="-120"/>
              </a:rPr>
              <a:t>Centralized Log Monitoring System  |  Group 6</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92608"/>
          </a:xfrm>
          <a:prstGeom prst="rect">
            <a:avLst/>
          </a:prstGeom>
          <a:noFill/>
          <a:ln/>
        </p:spPr>
        <p:txBody>
          <a:bodyPr wrap="square"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PART A</a:t>
            </a:r>
            <a:endParaRPr lang="en-US" sz="1300" dirty="0"/>
          </a:p>
        </p:txBody>
      </p:sp>
      <p:sp>
        <p:nvSpPr>
          <p:cNvPr id="3" name="Text 1"/>
          <p:cNvSpPr/>
          <p:nvPr/>
        </p:nvSpPr>
        <p:spPr>
          <a:xfrm>
            <a:off x="548640" y="566928"/>
            <a:ext cx="10789920" cy="658368"/>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Environment Setup</a:t>
            </a:r>
            <a:endParaRPr lang="en-US" sz="3000" dirty="0"/>
          </a:p>
        </p:txBody>
      </p:sp>
      <p:sp>
        <p:nvSpPr>
          <p:cNvPr id="4" name="Shape 2"/>
          <p:cNvSpPr/>
          <p:nvPr/>
        </p:nvSpPr>
        <p:spPr>
          <a:xfrm>
            <a:off x="548640" y="1600200"/>
            <a:ext cx="5212080" cy="932688"/>
          </a:xfrm>
          <a:prstGeom prst="roundRect">
            <a:avLst>
              <a:gd name="adj" fmla="val 7843"/>
            </a:avLst>
          </a:prstGeom>
          <a:solidFill>
            <a:srgbClr val="FFFFFF"/>
          </a:solidFill>
          <a:ln w="12700">
            <a:solidFill>
              <a:srgbClr val="E2E8F0"/>
            </a:solidFill>
            <a:prstDash val="solid"/>
          </a:ln>
        </p:spPr>
        <p:txBody>
          <a:bodyPr/>
          <a:lstStyle/>
          <a:p>
            <a:endParaRPr lang="en-KE"/>
          </a:p>
        </p:txBody>
      </p:sp>
      <p:sp>
        <p:nvSpPr>
          <p:cNvPr id="5" name="Shape 3"/>
          <p:cNvSpPr/>
          <p:nvPr/>
        </p:nvSpPr>
        <p:spPr>
          <a:xfrm>
            <a:off x="749808" y="1819656"/>
            <a:ext cx="475488" cy="475488"/>
          </a:xfrm>
          <a:prstGeom prst="ellipse">
            <a:avLst/>
          </a:prstGeom>
          <a:solidFill>
            <a:srgbClr val="028090"/>
          </a:solidFill>
          <a:ln/>
        </p:spPr>
        <p:txBody>
          <a:bodyPr/>
          <a:lstStyle/>
          <a:p>
            <a:endParaRPr lang="en-KE"/>
          </a:p>
        </p:txBody>
      </p:sp>
      <p:sp>
        <p:nvSpPr>
          <p:cNvPr id="6" name="Text 4"/>
          <p:cNvSpPr/>
          <p:nvPr/>
        </p:nvSpPr>
        <p:spPr>
          <a:xfrm>
            <a:off x="749808" y="1819656"/>
            <a:ext cx="475488" cy="475488"/>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1417320" y="1691640"/>
            <a:ext cx="4114800" cy="292608"/>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Data Sources</a:t>
            </a:r>
            <a:endParaRPr lang="en-US" sz="1400" dirty="0"/>
          </a:p>
        </p:txBody>
      </p:sp>
      <p:sp>
        <p:nvSpPr>
          <p:cNvPr id="8" name="Text 6"/>
          <p:cNvSpPr/>
          <p:nvPr/>
        </p:nvSpPr>
        <p:spPr>
          <a:xfrm>
            <a:off x="1417320" y="2002536"/>
            <a:ext cx="4206240" cy="457200"/>
          </a:xfrm>
          <a:prstGeom prst="rect">
            <a:avLst/>
          </a:prstGeom>
          <a:noFill/>
          <a:ln/>
        </p:spPr>
        <p:txBody>
          <a:bodyPr wrap="square" rtlCol="0" anchor="ctr"/>
          <a:lstStyle/>
          <a:p>
            <a:pPr marL="0" indent="0">
              <a:lnSpc>
                <a:spcPts val="1400"/>
              </a:lnSpc>
              <a:buNone/>
            </a:pPr>
            <a:r>
              <a:rPr lang="en-US" sz="1150" dirty="0">
                <a:solidFill>
                  <a:srgbClr val="5B6472"/>
                </a:solidFill>
                <a:latin typeface="Calibri" pitchFamily="34" charset="0"/>
                <a:ea typeface="Calibri" pitchFamily="34" charset="-122"/>
                <a:cs typeface="Calibri" pitchFamily="34" charset="-120"/>
              </a:rPr>
              <a:t>SSH authentication, web server &amp; application logs</a:t>
            </a:r>
            <a:endParaRPr lang="en-US" sz="1150" dirty="0"/>
          </a:p>
        </p:txBody>
      </p:sp>
      <p:sp>
        <p:nvSpPr>
          <p:cNvPr id="9" name="Shape 7"/>
          <p:cNvSpPr/>
          <p:nvPr/>
        </p:nvSpPr>
        <p:spPr>
          <a:xfrm>
            <a:off x="548640" y="2670048"/>
            <a:ext cx="5212080" cy="932688"/>
          </a:xfrm>
          <a:prstGeom prst="roundRect">
            <a:avLst>
              <a:gd name="adj" fmla="val 7843"/>
            </a:avLst>
          </a:prstGeom>
          <a:solidFill>
            <a:srgbClr val="FFFFFF"/>
          </a:solidFill>
          <a:ln w="12700">
            <a:solidFill>
              <a:srgbClr val="E2E8F0"/>
            </a:solidFill>
            <a:prstDash val="solid"/>
          </a:ln>
        </p:spPr>
        <p:txBody>
          <a:bodyPr/>
          <a:lstStyle/>
          <a:p>
            <a:endParaRPr lang="en-KE"/>
          </a:p>
        </p:txBody>
      </p:sp>
      <p:sp>
        <p:nvSpPr>
          <p:cNvPr id="10" name="Shape 8"/>
          <p:cNvSpPr/>
          <p:nvPr/>
        </p:nvSpPr>
        <p:spPr>
          <a:xfrm>
            <a:off x="749808" y="2889504"/>
            <a:ext cx="475488" cy="475488"/>
          </a:xfrm>
          <a:prstGeom prst="ellipse">
            <a:avLst/>
          </a:prstGeom>
          <a:solidFill>
            <a:srgbClr val="028090"/>
          </a:solidFill>
          <a:ln/>
        </p:spPr>
        <p:txBody>
          <a:bodyPr/>
          <a:lstStyle/>
          <a:p>
            <a:endParaRPr lang="en-KE"/>
          </a:p>
        </p:txBody>
      </p:sp>
      <p:sp>
        <p:nvSpPr>
          <p:cNvPr id="11" name="Text 9"/>
          <p:cNvSpPr/>
          <p:nvPr/>
        </p:nvSpPr>
        <p:spPr>
          <a:xfrm>
            <a:off x="749808" y="2889504"/>
            <a:ext cx="475488" cy="475488"/>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1417320" y="2761488"/>
            <a:ext cx="4114800" cy="292608"/>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Storage Platform</a:t>
            </a:r>
            <a:endParaRPr lang="en-US" sz="1400" dirty="0"/>
          </a:p>
        </p:txBody>
      </p:sp>
      <p:sp>
        <p:nvSpPr>
          <p:cNvPr id="13" name="Text 11"/>
          <p:cNvSpPr/>
          <p:nvPr/>
        </p:nvSpPr>
        <p:spPr>
          <a:xfrm>
            <a:off x="1417320" y="3072384"/>
            <a:ext cx="4206240" cy="457200"/>
          </a:xfrm>
          <a:prstGeom prst="rect">
            <a:avLst/>
          </a:prstGeom>
          <a:noFill/>
          <a:ln/>
        </p:spPr>
        <p:txBody>
          <a:bodyPr wrap="square" rtlCol="0" anchor="ctr"/>
          <a:lstStyle/>
          <a:p>
            <a:pPr marL="0" indent="0">
              <a:lnSpc>
                <a:spcPts val="1400"/>
              </a:lnSpc>
              <a:buNone/>
            </a:pPr>
            <a:r>
              <a:rPr lang="en-US" sz="1150" dirty="0">
                <a:solidFill>
                  <a:srgbClr val="5B6472"/>
                </a:solidFill>
                <a:latin typeface="Calibri" pitchFamily="34" charset="0"/>
                <a:ea typeface="Calibri" pitchFamily="34" charset="-122"/>
                <a:cs typeface="Calibri" pitchFamily="34" charset="-120"/>
              </a:rPr>
              <a:t>OpenSearch</a:t>
            </a:r>
            <a:endParaRPr lang="en-US" sz="1150" dirty="0"/>
          </a:p>
        </p:txBody>
      </p:sp>
      <p:sp>
        <p:nvSpPr>
          <p:cNvPr id="14" name="Shape 12"/>
          <p:cNvSpPr/>
          <p:nvPr/>
        </p:nvSpPr>
        <p:spPr>
          <a:xfrm>
            <a:off x="548640" y="3739896"/>
            <a:ext cx="5212080" cy="932688"/>
          </a:xfrm>
          <a:prstGeom prst="roundRect">
            <a:avLst>
              <a:gd name="adj" fmla="val 7843"/>
            </a:avLst>
          </a:prstGeom>
          <a:solidFill>
            <a:srgbClr val="FFFFFF"/>
          </a:solidFill>
          <a:ln w="12700">
            <a:solidFill>
              <a:srgbClr val="E2E8F0"/>
            </a:solidFill>
            <a:prstDash val="solid"/>
          </a:ln>
        </p:spPr>
        <p:txBody>
          <a:bodyPr/>
          <a:lstStyle/>
          <a:p>
            <a:endParaRPr lang="en-KE"/>
          </a:p>
        </p:txBody>
      </p:sp>
      <p:sp>
        <p:nvSpPr>
          <p:cNvPr id="15" name="Shape 13"/>
          <p:cNvSpPr/>
          <p:nvPr/>
        </p:nvSpPr>
        <p:spPr>
          <a:xfrm>
            <a:off x="749808" y="3959352"/>
            <a:ext cx="475488" cy="475488"/>
          </a:xfrm>
          <a:prstGeom prst="ellipse">
            <a:avLst/>
          </a:prstGeom>
          <a:solidFill>
            <a:srgbClr val="028090"/>
          </a:solidFill>
          <a:ln/>
        </p:spPr>
        <p:txBody>
          <a:bodyPr/>
          <a:lstStyle/>
          <a:p>
            <a:endParaRPr lang="en-KE"/>
          </a:p>
        </p:txBody>
      </p:sp>
      <p:sp>
        <p:nvSpPr>
          <p:cNvPr id="16" name="Text 14"/>
          <p:cNvSpPr/>
          <p:nvPr/>
        </p:nvSpPr>
        <p:spPr>
          <a:xfrm>
            <a:off x="749808" y="3959352"/>
            <a:ext cx="475488" cy="475488"/>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1417320" y="3831336"/>
            <a:ext cx="4114800" cy="292608"/>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Security Tools</a:t>
            </a:r>
            <a:endParaRPr lang="en-US" sz="1400" dirty="0"/>
          </a:p>
        </p:txBody>
      </p:sp>
      <p:sp>
        <p:nvSpPr>
          <p:cNvPr id="18" name="Text 16"/>
          <p:cNvSpPr/>
          <p:nvPr/>
        </p:nvSpPr>
        <p:spPr>
          <a:xfrm>
            <a:off x="1417320" y="4142232"/>
            <a:ext cx="4206240" cy="457200"/>
          </a:xfrm>
          <a:prstGeom prst="rect">
            <a:avLst/>
          </a:prstGeom>
          <a:noFill/>
          <a:ln/>
        </p:spPr>
        <p:txBody>
          <a:bodyPr wrap="square" rtlCol="0" anchor="ctr"/>
          <a:lstStyle/>
          <a:p>
            <a:pPr marL="0" indent="0">
              <a:lnSpc>
                <a:spcPts val="1400"/>
              </a:lnSpc>
              <a:buNone/>
            </a:pPr>
            <a:r>
              <a:rPr lang="en-US" sz="1150" dirty="0">
                <a:solidFill>
                  <a:srgbClr val="5B6472"/>
                </a:solidFill>
                <a:latin typeface="Calibri" pitchFamily="34" charset="0"/>
                <a:ea typeface="Calibri" pitchFamily="34" charset="-122"/>
                <a:cs typeface="Calibri" pitchFamily="34" charset="-120"/>
              </a:rPr>
              <a:t>OpenSearch • OpenSearch Dashboards • Python ingestion script</a:t>
            </a:r>
            <a:endParaRPr lang="en-US" sz="1150" dirty="0"/>
          </a:p>
        </p:txBody>
      </p:sp>
      <p:sp>
        <p:nvSpPr>
          <p:cNvPr id="19" name="Shape 17"/>
          <p:cNvSpPr/>
          <p:nvPr/>
        </p:nvSpPr>
        <p:spPr>
          <a:xfrm>
            <a:off x="548640" y="4809744"/>
            <a:ext cx="5212080" cy="932688"/>
          </a:xfrm>
          <a:prstGeom prst="roundRect">
            <a:avLst>
              <a:gd name="adj" fmla="val 7843"/>
            </a:avLst>
          </a:prstGeom>
          <a:solidFill>
            <a:srgbClr val="FFFFFF"/>
          </a:solidFill>
          <a:ln w="12700">
            <a:solidFill>
              <a:srgbClr val="E2E8F0"/>
            </a:solidFill>
            <a:prstDash val="solid"/>
          </a:ln>
        </p:spPr>
        <p:txBody>
          <a:bodyPr/>
          <a:lstStyle/>
          <a:p>
            <a:endParaRPr lang="en-KE"/>
          </a:p>
        </p:txBody>
      </p:sp>
      <p:sp>
        <p:nvSpPr>
          <p:cNvPr id="20" name="Shape 18"/>
          <p:cNvSpPr/>
          <p:nvPr/>
        </p:nvSpPr>
        <p:spPr>
          <a:xfrm>
            <a:off x="749808" y="5029200"/>
            <a:ext cx="475488" cy="475488"/>
          </a:xfrm>
          <a:prstGeom prst="ellipse">
            <a:avLst/>
          </a:prstGeom>
          <a:solidFill>
            <a:srgbClr val="028090"/>
          </a:solidFill>
          <a:ln/>
        </p:spPr>
        <p:txBody>
          <a:bodyPr/>
          <a:lstStyle/>
          <a:p>
            <a:endParaRPr lang="en-KE"/>
          </a:p>
        </p:txBody>
      </p:sp>
      <p:sp>
        <p:nvSpPr>
          <p:cNvPr id="21" name="Text 19"/>
          <p:cNvSpPr/>
          <p:nvPr/>
        </p:nvSpPr>
        <p:spPr>
          <a:xfrm>
            <a:off x="749808" y="5029200"/>
            <a:ext cx="475488" cy="475488"/>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2" name="Text 20"/>
          <p:cNvSpPr/>
          <p:nvPr/>
        </p:nvSpPr>
        <p:spPr>
          <a:xfrm>
            <a:off x="1417320" y="4901184"/>
            <a:ext cx="4114800" cy="292608"/>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Deployment</a:t>
            </a:r>
            <a:endParaRPr lang="en-US" sz="1400" dirty="0"/>
          </a:p>
        </p:txBody>
      </p:sp>
      <p:sp>
        <p:nvSpPr>
          <p:cNvPr id="23" name="Text 21"/>
          <p:cNvSpPr/>
          <p:nvPr/>
        </p:nvSpPr>
        <p:spPr>
          <a:xfrm>
            <a:off x="1417320" y="5212080"/>
            <a:ext cx="4206240" cy="457200"/>
          </a:xfrm>
          <a:prstGeom prst="rect">
            <a:avLst/>
          </a:prstGeom>
          <a:noFill/>
          <a:ln/>
        </p:spPr>
        <p:txBody>
          <a:bodyPr wrap="square" rtlCol="0" anchor="ctr"/>
          <a:lstStyle/>
          <a:p>
            <a:pPr marL="0" indent="0">
              <a:lnSpc>
                <a:spcPts val="1400"/>
              </a:lnSpc>
              <a:buNone/>
            </a:pPr>
            <a:r>
              <a:rPr lang="en-US" sz="1150" dirty="0">
                <a:solidFill>
                  <a:srgbClr val="5B6472"/>
                </a:solidFill>
                <a:latin typeface="Calibri" pitchFamily="34" charset="0"/>
                <a:ea typeface="Calibri" pitchFamily="34" charset="-122"/>
                <a:cs typeface="Calibri" pitchFamily="34" charset="-120"/>
              </a:rPr>
              <a:t>Docker containers</a:t>
            </a:r>
            <a:endParaRPr lang="en-US" sz="1150" dirty="0"/>
          </a:p>
        </p:txBody>
      </p:sp>
      <p:sp>
        <p:nvSpPr>
          <p:cNvPr id="24" name="Shape 22"/>
          <p:cNvSpPr/>
          <p:nvPr/>
        </p:nvSpPr>
        <p:spPr>
          <a:xfrm>
            <a:off x="6208776" y="1591056"/>
            <a:ext cx="5458968" cy="2990088"/>
          </a:xfrm>
          <a:prstGeom prst="roundRect">
            <a:avLst>
              <a:gd name="adj" fmla="val 2446"/>
            </a:avLst>
          </a:prstGeom>
          <a:solidFill>
            <a:srgbClr val="FFFFFF"/>
          </a:solidFill>
          <a:ln w="12700">
            <a:solidFill>
              <a:srgbClr val="E2E8F0"/>
            </a:solidFill>
            <a:prstDash val="solid"/>
          </a:ln>
          <a:effectLst>
            <a:outerShdw blurRad="101600" dist="38100" dir="5400000" algn="bl" rotWithShape="0">
              <a:srgbClr val="1E2761">
                <a:alpha val="18000"/>
              </a:srgbClr>
            </a:outerShdw>
          </a:effectLst>
        </p:spPr>
        <p:txBody>
          <a:bodyPr/>
          <a:lstStyle/>
          <a:p>
            <a:endParaRPr lang="en-KE"/>
          </a:p>
        </p:txBody>
      </p:sp>
      <p:pic>
        <p:nvPicPr>
          <p:cNvPr id="25" name="Image 0" descr="media/Screenshot_2026-07-20_121036.png"/>
          <p:cNvPicPr>
            <a:picLocks noChangeAspect="1"/>
          </p:cNvPicPr>
          <p:nvPr/>
        </p:nvPicPr>
        <p:blipFill>
          <a:blip r:embed="rId3"/>
          <a:srcRect/>
          <a:stretch/>
        </p:blipFill>
        <p:spPr>
          <a:xfrm>
            <a:off x="6263640" y="1645920"/>
            <a:ext cx="5349240" cy="2880360"/>
          </a:xfrm>
          <a:prstGeom prst="rect">
            <a:avLst/>
          </a:prstGeom>
        </p:spPr>
      </p:pic>
      <p:sp>
        <p:nvSpPr>
          <p:cNvPr id="26" name="Text 23"/>
          <p:cNvSpPr/>
          <p:nvPr/>
        </p:nvSpPr>
        <p:spPr>
          <a:xfrm>
            <a:off x="6208776" y="4608576"/>
            <a:ext cx="5458968" cy="292608"/>
          </a:xfrm>
          <a:prstGeom prst="rect">
            <a:avLst/>
          </a:prstGeom>
          <a:noFill/>
          <a:ln/>
        </p:spPr>
        <p:txBody>
          <a:bodyPr wrap="square" rtlCol="0" anchor="ctr"/>
          <a:lstStyle/>
          <a:p>
            <a:pPr marL="0" indent="0" algn="ctr">
              <a:buNone/>
            </a:pPr>
            <a:r>
              <a:rPr lang="en-US" sz="1100" i="1" dirty="0">
                <a:solidFill>
                  <a:srgbClr val="5B6472"/>
                </a:solidFill>
                <a:latin typeface="Calibri" pitchFamily="34" charset="0"/>
                <a:ea typeface="Calibri" pitchFamily="34" charset="-122"/>
                <a:cs typeface="Calibri" pitchFamily="34" charset="-120"/>
              </a:rPr>
              <a:t>Docker containers running — OpenSearch &amp; OpenSearch Dashboards</a:t>
            </a:r>
            <a:endParaRPr lang="en-US" sz="1100" dirty="0"/>
          </a:p>
        </p:txBody>
      </p:sp>
      <p:sp>
        <p:nvSpPr>
          <p:cNvPr id="27" name="Shape 24"/>
          <p:cNvSpPr/>
          <p:nvPr/>
        </p:nvSpPr>
        <p:spPr>
          <a:xfrm>
            <a:off x="6263640" y="5074920"/>
            <a:ext cx="5349240" cy="1051560"/>
          </a:xfrm>
          <a:prstGeom prst="roundRect">
            <a:avLst>
              <a:gd name="adj" fmla="val 6957"/>
            </a:avLst>
          </a:prstGeom>
          <a:solidFill>
            <a:srgbClr val="1E2761"/>
          </a:solidFill>
          <a:ln/>
        </p:spPr>
        <p:txBody>
          <a:bodyPr/>
          <a:lstStyle/>
          <a:p>
            <a:endParaRPr lang="en-KE"/>
          </a:p>
        </p:txBody>
      </p:sp>
      <p:sp>
        <p:nvSpPr>
          <p:cNvPr id="28" name="Text 25"/>
          <p:cNvSpPr/>
          <p:nvPr/>
        </p:nvSpPr>
        <p:spPr>
          <a:xfrm>
            <a:off x="6537960" y="5193792"/>
            <a:ext cx="4800600" cy="822960"/>
          </a:xfrm>
          <a:prstGeom prst="rect">
            <a:avLst/>
          </a:prstGeom>
          <a:noFill/>
          <a:ln/>
        </p:spPr>
        <p:txBody>
          <a:bodyPr wrap="square" rtlCol="0" anchor="ctr"/>
          <a:lstStyle/>
          <a:p>
            <a:pPr marL="0" indent="0">
              <a:lnSpc>
                <a:spcPts val="1500"/>
              </a:lnSpc>
              <a:buNone/>
            </a:pPr>
            <a:r>
              <a:rPr lang="en-US" sz="1150" dirty="0">
                <a:solidFill>
                  <a:srgbClr val="CADCFC"/>
                </a:solidFill>
                <a:latin typeface="Calibri" pitchFamily="34" charset="0"/>
                <a:ea typeface="Calibri" pitchFamily="34" charset="-122"/>
                <a:cs typeface="Calibri" pitchFamily="34" charset="-120"/>
              </a:rPr>
              <a:t>The full stack — OpenSearch, Dashboards, and the ingestion script — runs inside Docker containers, keeping the environment portable and reproducible.</a:t>
            </a:r>
            <a:endParaRPr lang="en-US" sz="1150" dirty="0"/>
          </a:p>
        </p:txBody>
      </p:sp>
      <p:sp>
        <p:nvSpPr>
          <p:cNvPr id="29" name="Text 26"/>
          <p:cNvSpPr/>
          <p:nvPr/>
        </p:nvSpPr>
        <p:spPr>
          <a:xfrm>
            <a:off x="548640" y="6528816"/>
            <a:ext cx="7315200" cy="256032"/>
          </a:xfrm>
          <a:prstGeom prst="rect">
            <a:avLst/>
          </a:prstGeom>
          <a:noFill/>
          <a:ln/>
        </p:spPr>
        <p:txBody>
          <a:bodyPr wrap="square" rtlCol="0" anchor="ctr"/>
          <a:lstStyle/>
          <a:p>
            <a:pPr marL="0" indent="0">
              <a:buNone/>
            </a:pPr>
            <a:r>
              <a:rPr lang="en-US" sz="950" dirty="0">
                <a:solidFill>
                  <a:srgbClr val="9AA6C9"/>
                </a:solidFill>
                <a:latin typeface="Calibri" pitchFamily="34" charset="0"/>
                <a:ea typeface="Calibri" pitchFamily="34" charset="-122"/>
                <a:cs typeface="Calibri" pitchFamily="34" charset="-120"/>
              </a:rPr>
              <a:t>Centralized Log Monitoring System  |  Group 6</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92608"/>
          </a:xfrm>
          <a:prstGeom prst="rect">
            <a:avLst/>
          </a:prstGeom>
          <a:noFill/>
          <a:ln/>
        </p:spPr>
        <p:txBody>
          <a:bodyPr wrap="square"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PART B</a:t>
            </a:r>
            <a:endParaRPr lang="en-US" sz="1300" dirty="0"/>
          </a:p>
        </p:txBody>
      </p:sp>
      <p:sp>
        <p:nvSpPr>
          <p:cNvPr id="3" name="Text 1"/>
          <p:cNvSpPr/>
          <p:nvPr/>
        </p:nvSpPr>
        <p:spPr>
          <a:xfrm>
            <a:off x="548640" y="566928"/>
            <a:ext cx="10789920" cy="658368"/>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Dataset</a:t>
            </a:r>
            <a:endParaRPr lang="en-US" sz="3000" dirty="0"/>
          </a:p>
        </p:txBody>
      </p:sp>
      <p:sp>
        <p:nvSpPr>
          <p:cNvPr id="4" name="Shape 2"/>
          <p:cNvSpPr/>
          <p:nvPr/>
        </p:nvSpPr>
        <p:spPr>
          <a:xfrm>
            <a:off x="548640" y="1554480"/>
            <a:ext cx="2834640" cy="1508760"/>
          </a:xfrm>
          <a:prstGeom prst="roundRect">
            <a:avLst>
              <a:gd name="adj" fmla="val 5455"/>
            </a:avLst>
          </a:prstGeom>
          <a:solidFill>
            <a:srgbClr val="028090"/>
          </a:solidFill>
          <a:ln/>
        </p:spPr>
        <p:txBody>
          <a:bodyPr/>
          <a:lstStyle/>
          <a:p>
            <a:endParaRPr lang="en-KE"/>
          </a:p>
        </p:txBody>
      </p:sp>
      <p:sp>
        <p:nvSpPr>
          <p:cNvPr id="5" name="Text 3"/>
          <p:cNvSpPr/>
          <p:nvPr/>
        </p:nvSpPr>
        <p:spPr>
          <a:xfrm>
            <a:off x="548640" y="1645920"/>
            <a:ext cx="2834640" cy="685800"/>
          </a:xfrm>
          <a:prstGeom prst="rect">
            <a:avLst/>
          </a:prstGeom>
          <a:no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100,000+</a:t>
            </a:r>
            <a:endParaRPr lang="en-US" sz="3000" dirty="0"/>
          </a:p>
        </p:txBody>
      </p:sp>
      <p:sp>
        <p:nvSpPr>
          <p:cNvPr id="6" name="Text 4"/>
          <p:cNvSpPr/>
          <p:nvPr/>
        </p:nvSpPr>
        <p:spPr>
          <a:xfrm>
            <a:off x="548640" y="2286000"/>
            <a:ext cx="2834640" cy="548640"/>
          </a:xfrm>
          <a:prstGeom prst="rect">
            <a:avLst/>
          </a:prstGeom>
          <a:noFill/>
          <a:ln/>
        </p:spPr>
        <p:txBody>
          <a:bodyPr wrap="square" rtlCol="0" anchor="ctr"/>
          <a:lstStyle/>
          <a:p>
            <a:pPr marL="0" indent="0" algn="ctr">
              <a:buNone/>
            </a:pPr>
            <a:r>
              <a:rPr lang="en-US" sz="1150" dirty="0">
                <a:solidFill>
                  <a:srgbClr val="CADCFC"/>
                </a:solidFill>
                <a:latin typeface="Calibri" pitchFamily="34" charset="0"/>
                <a:ea typeface="Calibri" pitchFamily="34" charset="-122"/>
                <a:cs typeface="Calibri" pitchFamily="34" charset="-120"/>
              </a:rPr>
              <a:t>log records generated</a:t>
            </a:r>
            <a:endParaRPr lang="en-US" sz="1150" dirty="0"/>
          </a:p>
        </p:txBody>
      </p:sp>
      <p:sp>
        <p:nvSpPr>
          <p:cNvPr id="7" name="Text 5"/>
          <p:cNvSpPr/>
          <p:nvPr/>
        </p:nvSpPr>
        <p:spPr>
          <a:xfrm>
            <a:off x="3611880" y="1572768"/>
            <a:ext cx="8001000" cy="777240"/>
          </a:xfrm>
          <a:prstGeom prst="rect">
            <a:avLst/>
          </a:prstGeom>
          <a:noFill/>
          <a:ln/>
        </p:spPr>
        <p:txBody>
          <a:bodyPr wrap="square" rtlCol="0" anchor="ctr"/>
          <a:lstStyle/>
          <a:p>
            <a:pPr marL="0" indent="0">
              <a:lnSpc>
                <a:spcPts val="1900"/>
              </a:lnSpc>
              <a:buNone/>
            </a:pPr>
            <a:r>
              <a:rPr lang="en-US" sz="1350" b="1" dirty="0">
                <a:solidFill>
                  <a:srgbClr val="1E2761"/>
                </a:solidFill>
                <a:latin typeface="Calibri" pitchFamily="34" charset="0"/>
                <a:ea typeface="Calibri" pitchFamily="34" charset="-122"/>
                <a:cs typeface="Calibri" pitchFamily="34" charset="-120"/>
              </a:rPr>
              <a:t>Custom dataset </a:t>
            </a:r>
            <a:r>
              <a:rPr lang="en-US" sz="1350" dirty="0">
                <a:solidFill>
                  <a:srgbClr val="1A1A2E"/>
                </a:solidFill>
                <a:latin typeface="Calibri" pitchFamily="34" charset="0"/>
                <a:ea typeface="Calibri" pitchFamily="34" charset="-122"/>
                <a:cs typeface="Calibri" pitchFamily="34" charset="-120"/>
              </a:rPr>
              <a:t>generated using Python to simulate realistic security events, meeting the assignment's minimum record requirement.</a:t>
            </a:r>
            <a:endParaRPr lang="en-US" sz="1350" dirty="0"/>
          </a:p>
        </p:txBody>
      </p:sp>
      <p:sp>
        <p:nvSpPr>
          <p:cNvPr id="8" name="Shape 6"/>
          <p:cNvSpPr/>
          <p:nvPr/>
        </p:nvSpPr>
        <p:spPr>
          <a:xfrm>
            <a:off x="3611880" y="2514600"/>
            <a:ext cx="2606040" cy="502920"/>
          </a:xfrm>
          <a:prstGeom prst="roundRect">
            <a:avLst>
              <a:gd name="adj" fmla="val 50909"/>
            </a:avLst>
          </a:prstGeom>
          <a:solidFill>
            <a:srgbClr val="FFFFFF"/>
          </a:solidFill>
          <a:ln w="12700">
            <a:solidFill>
              <a:srgbClr val="028090"/>
            </a:solidFill>
            <a:prstDash val="solid"/>
          </a:ln>
        </p:spPr>
        <p:txBody>
          <a:bodyPr/>
          <a:lstStyle/>
          <a:p>
            <a:endParaRPr lang="en-KE"/>
          </a:p>
        </p:txBody>
      </p:sp>
      <p:sp>
        <p:nvSpPr>
          <p:cNvPr id="9" name="Text 7"/>
          <p:cNvSpPr/>
          <p:nvPr/>
        </p:nvSpPr>
        <p:spPr>
          <a:xfrm>
            <a:off x="3611880" y="2514600"/>
            <a:ext cx="2606040" cy="502920"/>
          </a:xfrm>
          <a:prstGeom prst="rect">
            <a:avLst/>
          </a:prstGeom>
          <a:noFill/>
          <a:ln/>
        </p:spPr>
        <p:txBody>
          <a:bodyPr wrap="square" rtlCol="0" anchor="ctr"/>
          <a:lstStyle/>
          <a:p>
            <a:pPr marL="0" indent="0" algn="ctr">
              <a:buNone/>
            </a:pPr>
            <a:r>
              <a:rPr lang="en-US" sz="1150" b="1" dirty="0">
                <a:solidFill>
                  <a:srgbClr val="028090"/>
                </a:solidFill>
                <a:latin typeface="Calibri" pitchFamily="34" charset="0"/>
                <a:ea typeface="Calibri" pitchFamily="34" charset="-122"/>
                <a:cs typeface="Calibri" pitchFamily="34" charset="-120"/>
              </a:rPr>
              <a:t>SSH Login Events</a:t>
            </a:r>
            <a:endParaRPr lang="en-US" sz="1150" dirty="0"/>
          </a:p>
        </p:txBody>
      </p:sp>
      <p:sp>
        <p:nvSpPr>
          <p:cNvPr id="10" name="Shape 8"/>
          <p:cNvSpPr/>
          <p:nvPr/>
        </p:nvSpPr>
        <p:spPr>
          <a:xfrm>
            <a:off x="6355080" y="2514600"/>
            <a:ext cx="2606040" cy="502920"/>
          </a:xfrm>
          <a:prstGeom prst="roundRect">
            <a:avLst>
              <a:gd name="adj" fmla="val 50909"/>
            </a:avLst>
          </a:prstGeom>
          <a:solidFill>
            <a:srgbClr val="FFFFFF"/>
          </a:solidFill>
          <a:ln w="12700">
            <a:solidFill>
              <a:srgbClr val="028090"/>
            </a:solidFill>
            <a:prstDash val="solid"/>
          </a:ln>
        </p:spPr>
        <p:txBody>
          <a:bodyPr/>
          <a:lstStyle/>
          <a:p>
            <a:endParaRPr lang="en-KE"/>
          </a:p>
        </p:txBody>
      </p:sp>
      <p:sp>
        <p:nvSpPr>
          <p:cNvPr id="11" name="Text 9"/>
          <p:cNvSpPr/>
          <p:nvPr/>
        </p:nvSpPr>
        <p:spPr>
          <a:xfrm>
            <a:off x="6355080" y="2514600"/>
            <a:ext cx="2606040" cy="502920"/>
          </a:xfrm>
          <a:prstGeom prst="rect">
            <a:avLst/>
          </a:prstGeom>
          <a:noFill/>
          <a:ln/>
        </p:spPr>
        <p:txBody>
          <a:bodyPr wrap="square" rtlCol="0" anchor="ctr"/>
          <a:lstStyle/>
          <a:p>
            <a:pPr marL="0" indent="0" algn="ctr">
              <a:buNone/>
            </a:pPr>
            <a:r>
              <a:rPr lang="en-US" sz="1150" b="1" dirty="0">
                <a:solidFill>
                  <a:srgbClr val="028090"/>
                </a:solidFill>
                <a:latin typeface="Calibri" pitchFamily="34" charset="0"/>
                <a:ea typeface="Calibri" pitchFamily="34" charset="-122"/>
                <a:cs typeface="Calibri" pitchFamily="34" charset="-120"/>
              </a:rPr>
              <a:t>Web Server Requests</a:t>
            </a:r>
            <a:endParaRPr lang="en-US" sz="1150" dirty="0"/>
          </a:p>
        </p:txBody>
      </p:sp>
      <p:sp>
        <p:nvSpPr>
          <p:cNvPr id="12" name="Shape 10"/>
          <p:cNvSpPr/>
          <p:nvPr/>
        </p:nvSpPr>
        <p:spPr>
          <a:xfrm>
            <a:off x="9098280" y="2514600"/>
            <a:ext cx="2606040" cy="502920"/>
          </a:xfrm>
          <a:prstGeom prst="roundRect">
            <a:avLst>
              <a:gd name="adj" fmla="val 50909"/>
            </a:avLst>
          </a:prstGeom>
          <a:solidFill>
            <a:srgbClr val="FFFFFF"/>
          </a:solidFill>
          <a:ln w="12700">
            <a:solidFill>
              <a:srgbClr val="028090"/>
            </a:solidFill>
            <a:prstDash val="solid"/>
          </a:ln>
        </p:spPr>
        <p:txBody>
          <a:bodyPr/>
          <a:lstStyle/>
          <a:p>
            <a:endParaRPr lang="en-KE"/>
          </a:p>
        </p:txBody>
      </p:sp>
      <p:sp>
        <p:nvSpPr>
          <p:cNvPr id="13" name="Text 11"/>
          <p:cNvSpPr/>
          <p:nvPr/>
        </p:nvSpPr>
        <p:spPr>
          <a:xfrm>
            <a:off x="9098280" y="2514600"/>
            <a:ext cx="2606040" cy="502920"/>
          </a:xfrm>
          <a:prstGeom prst="rect">
            <a:avLst/>
          </a:prstGeom>
          <a:noFill/>
          <a:ln/>
        </p:spPr>
        <p:txBody>
          <a:bodyPr wrap="square" rtlCol="0" anchor="ctr"/>
          <a:lstStyle/>
          <a:p>
            <a:pPr marL="0" indent="0" algn="ctr">
              <a:buNone/>
            </a:pPr>
            <a:r>
              <a:rPr lang="en-US" sz="1150" b="1" dirty="0">
                <a:solidFill>
                  <a:srgbClr val="028090"/>
                </a:solidFill>
                <a:latin typeface="Calibri" pitchFamily="34" charset="0"/>
                <a:ea typeface="Calibri" pitchFamily="34" charset="-122"/>
                <a:cs typeface="Calibri" pitchFamily="34" charset="-120"/>
              </a:rPr>
              <a:t>Application Events</a:t>
            </a:r>
            <a:endParaRPr lang="en-US" sz="1150" dirty="0"/>
          </a:p>
        </p:txBody>
      </p:sp>
      <p:sp>
        <p:nvSpPr>
          <p:cNvPr id="14" name="Shape 12"/>
          <p:cNvSpPr/>
          <p:nvPr/>
        </p:nvSpPr>
        <p:spPr>
          <a:xfrm>
            <a:off x="493776" y="3374136"/>
            <a:ext cx="5596128" cy="2898648"/>
          </a:xfrm>
          <a:prstGeom prst="roundRect">
            <a:avLst>
              <a:gd name="adj" fmla="val 2524"/>
            </a:avLst>
          </a:prstGeom>
          <a:solidFill>
            <a:srgbClr val="FFFFFF"/>
          </a:solidFill>
          <a:ln w="12700">
            <a:solidFill>
              <a:srgbClr val="E2E8F0"/>
            </a:solidFill>
            <a:prstDash val="solid"/>
          </a:ln>
          <a:effectLst>
            <a:outerShdw blurRad="101600" dist="38100" dir="5400000" algn="bl" rotWithShape="0">
              <a:srgbClr val="1E2761">
                <a:alpha val="18000"/>
              </a:srgbClr>
            </a:outerShdw>
          </a:effectLst>
        </p:spPr>
        <p:txBody>
          <a:bodyPr/>
          <a:lstStyle/>
          <a:p>
            <a:endParaRPr lang="en-KE"/>
          </a:p>
        </p:txBody>
      </p:sp>
      <p:pic>
        <p:nvPicPr>
          <p:cNvPr id="15" name="Image 0" descr="media/Screenshot_2026-07-20_141623.png"/>
          <p:cNvPicPr>
            <a:picLocks noChangeAspect="1"/>
          </p:cNvPicPr>
          <p:nvPr/>
        </p:nvPicPr>
        <p:blipFill>
          <a:blip r:embed="rId3"/>
          <a:srcRect/>
          <a:stretch/>
        </p:blipFill>
        <p:spPr>
          <a:xfrm>
            <a:off x="548640" y="3429000"/>
            <a:ext cx="5486400" cy="2788920"/>
          </a:xfrm>
          <a:prstGeom prst="rect">
            <a:avLst/>
          </a:prstGeom>
        </p:spPr>
      </p:pic>
      <p:sp>
        <p:nvSpPr>
          <p:cNvPr id="16" name="Text 13"/>
          <p:cNvSpPr/>
          <p:nvPr/>
        </p:nvSpPr>
        <p:spPr>
          <a:xfrm>
            <a:off x="493776" y="6300216"/>
            <a:ext cx="5596128" cy="292608"/>
          </a:xfrm>
          <a:prstGeom prst="rect">
            <a:avLst/>
          </a:prstGeom>
          <a:noFill/>
          <a:ln/>
        </p:spPr>
        <p:txBody>
          <a:bodyPr wrap="square" rtlCol="0" anchor="ctr"/>
          <a:lstStyle/>
          <a:p>
            <a:pPr marL="0" indent="0" algn="ctr">
              <a:buNone/>
            </a:pPr>
            <a:r>
              <a:rPr lang="en-US" sz="1100" i="1" dirty="0">
                <a:solidFill>
                  <a:srgbClr val="5B6472"/>
                </a:solidFill>
                <a:latin typeface="Calibri" pitchFamily="34" charset="0"/>
                <a:ea typeface="Calibri" pitchFamily="34" charset="-122"/>
                <a:cs typeface="Calibri" pitchFamily="34" charset="-120"/>
              </a:rPr>
              <a:t>Python script generating the SSH, web, and application log dataset</a:t>
            </a:r>
            <a:endParaRPr lang="en-US" sz="1100" dirty="0"/>
          </a:p>
        </p:txBody>
      </p:sp>
      <p:sp>
        <p:nvSpPr>
          <p:cNvPr id="17" name="Shape 14"/>
          <p:cNvSpPr/>
          <p:nvPr/>
        </p:nvSpPr>
        <p:spPr>
          <a:xfrm>
            <a:off x="6300216" y="3374136"/>
            <a:ext cx="5367528" cy="2898648"/>
          </a:xfrm>
          <a:prstGeom prst="roundRect">
            <a:avLst>
              <a:gd name="adj" fmla="val 2524"/>
            </a:avLst>
          </a:prstGeom>
          <a:solidFill>
            <a:srgbClr val="FFFFFF"/>
          </a:solidFill>
          <a:ln w="12700">
            <a:solidFill>
              <a:srgbClr val="E2E8F0"/>
            </a:solidFill>
            <a:prstDash val="solid"/>
          </a:ln>
          <a:effectLst>
            <a:outerShdw blurRad="101600" dist="38100" dir="5400000" algn="bl" rotWithShape="0">
              <a:srgbClr val="1E2761">
                <a:alpha val="18000"/>
              </a:srgbClr>
            </a:outerShdw>
          </a:effectLst>
        </p:spPr>
        <p:txBody>
          <a:bodyPr/>
          <a:lstStyle/>
          <a:p>
            <a:endParaRPr lang="en-KE"/>
          </a:p>
        </p:txBody>
      </p:sp>
      <p:pic>
        <p:nvPicPr>
          <p:cNvPr id="18" name="Image 1" descr="media/Screenshot_2026-07-20_141721.png"/>
          <p:cNvPicPr>
            <a:picLocks noChangeAspect="1"/>
          </p:cNvPicPr>
          <p:nvPr/>
        </p:nvPicPr>
        <p:blipFill>
          <a:blip r:embed="rId4"/>
          <a:srcRect/>
          <a:stretch/>
        </p:blipFill>
        <p:spPr>
          <a:xfrm>
            <a:off x="6355080" y="3429000"/>
            <a:ext cx="5257800" cy="2788920"/>
          </a:xfrm>
          <a:prstGeom prst="rect">
            <a:avLst/>
          </a:prstGeom>
        </p:spPr>
      </p:pic>
      <p:sp>
        <p:nvSpPr>
          <p:cNvPr id="19" name="Text 15"/>
          <p:cNvSpPr/>
          <p:nvPr/>
        </p:nvSpPr>
        <p:spPr>
          <a:xfrm>
            <a:off x="6300216" y="6300216"/>
            <a:ext cx="5367528" cy="292608"/>
          </a:xfrm>
          <a:prstGeom prst="rect">
            <a:avLst/>
          </a:prstGeom>
          <a:noFill/>
          <a:ln/>
        </p:spPr>
        <p:txBody>
          <a:bodyPr wrap="square" rtlCol="0" anchor="ctr"/>
          <a:lstStyle/>
          <a:p>
            <a:pPr marL="0" indent="0" algn="ctr">
              <a:buNone/>
            </a:pPr>
            <a:r>
              <a:rPr lang="en-US" sz="1100" i="1" dirty="0">
                <a:solidFill>
                  <a:srgbClr val="5B6472"/>
                </a:solidFill>
                <a:latin typeface="Calibri" pitchFamily="34" charset="0"/>
                <a:ea typeface="Calibri" pitchFamily="34" charset="-122"/>
                <a:cs typeface="Calibri" pitchFamily="34" charset="-120"/>
              </a:rPr>
              <a:t>Sample log entries — successful logins, failed logins, invalid passwords</a:t>
            </a:r>
            <a:endParaRPr lang="en-US" sz="1100" dirty="0"/>
          </a:p>
        </p:txBody>
      </p:sp>
      <p:sp>
        <p:nvSpPr>
          <p:cNvPr id="20" name="Text 16"/>
          <p:cNvSpPr/>
          <p:nvPr/>
        </p:nvSpPr>
        <p:spPr>
          <a:xfrm>
            <a:off x="548640" y="6528816"/>
            <a:ext cx="7315200" cy="256032"/>
          </a:xfrm>
          <a:prstGeom prst="rect">
            <a:avLst/>
          </a:prstGeom>
          <a:noFill/>
          <a:ln/>
        </p:spPr>
        <p:txBody>
          <a:bodyPr wrap="square" rtlCol="0" anchor="ctr"/>
          <a:lstStyle/>
          <a:p>
            <a:pPr marL="0" indent="0">
              <a:buNone/>
            </a:pPr>
            <a:r>
              <a:rPr lang="en-US" sz="950" dirty="0">
                <a:solidFill>
                  <a:srgbClr val="9AA6C9"/>
                </a:solidFill>
                <a:latin typeface="Calibri" pitchFamily="34" charset="0"/>
                <a:ea typeface="Calibri" pitchFamily="34" charset="-122"/>
                <a:cs typeface="Calibri" pitchFamily="34" charset="-120"/>
              </a:rPr>
              <a:t>Centralized Log Monitoring System  |  Group 6</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92608"/>
          </a:xfrm>
          <a:prstGeom prst="rect">
            <a:avLst/>
          </a:prstGeom>
          <a:noFill/>
          <a:ln/>
        </p:spPr>
        <p:txBody>
          <a:bodyPr wrap="square"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ARCHITECTURE</a:t>
            </a:r>
            <a:endParaRPr lang="en-US" sz="1300" dirty="0"/>
          </a:p>
        </p:txBody>
      </p:sp>
      <p:sp>
        <p:nvSpPr>
          <p:cNvPr id="3" name="Text 1"/>
          <p:cNvSpPr/>
          <p:nvPr/>
        </p:nvSpPr>
        <p:spPr>
          <a:xfrm>
            <a:off x="548640" y="566928"/>
            <a:ext cx="10789920" cy="658368"/>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System Architecture &amp; Data Flow</a:t>
            </a:r>
            <a:endParaRPr lang="en-US" sz="3000" dirty="0"/>
          </a:p>
        </p:txBody>
      </p:sp>
      <p:sp>
        <p:nvSpPr>
          <p:cNvPr id="4" name="Shape 2"/>
          <p:cNvSpPr/>
          <p:nvPr/>
        </p:nvSpPr>
        <p:spPr>
          <a:xfrm>
            <a:off x="4677156" y="1508760"/>
            <a:ext cx="2834640" cy="566928"/>
          </a:xfrm>
          <a:prstGeom prst="roundRect">
            <a:avLst>
              <a:gd name="adj" fmla="val 14516"/>
            </a:avLst>
          </a:prstGeom>
          <a:solidFill>
            <a:srgbClr val="028090"/>
          </a:solidFill>
          <a:ln/>
        </p:spPr>
        <p:txBody>
          <a:bodyPr/>
          <a:lstStyle/>
          <a:p>
            <a:endParaRPr lang="en-KE"/>
          </a:p>
        </p:txBody>
      </p:sp>
      <p:sp>
        <p:nvSpPr>
          <p:cNvPr id="5" name="Text 3"/>
          <p:cNvSpPr/>
          <p:nvPr/>
        </p:nvSpPr>
        <p:spPr>
          <a:xfrm>
            <a:off x="4814316" y="1563624"/>
            <a:ext cx="2560320" cy="2743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Log Sources</a:t>
            </a:r>
            <a:endParaRPr lang="en-US" sz="1300" dirty="0"/>
          </a:p>
        </p:txBody>
      </p:sp>
      <p:sp>
        <p:nvSpPr>
          <p:cNvPr id="6" name="Text 4"/>
          <p:cNvSpPr/>
          <p:nvPr/>
        </p:nvSpPr>
        <p:spPr>
          <a:xfrm>
            <a:off x="4814316" y="1810512"/>
            <a:ext cx="2560320" cy="228600"/>
          </a:xfrm>
          <a:prstGeom prst="rect">
            <a:avLst/>
          </a:prstGeom>
          <a:noFill/>
          <a:ln/>
        </p:spPr>
        <p:txBody>
          <a:bodyPr wrap="square" rtlCol="0" anchor="ctr"/>
          <a:lstStyle/>
          <a:p>
            <a:pPr marL="0" indent="0" algn="ctr">
              <a:buNone/>
            </a:pPr>
            <a:r>
              <a:rPr lang="en-US" sz="950" dirty="0">
                <a:solidFill>
                  <a:srgbClr val="CADCFC"/>
                </a:solidFill>
                <a:latin typeface="Calibri" pitchFamily="34" charset="0"/>
                <a:ea typeface="Calibri" pitchFamily="34" charset="-122"/>
                <a:cs typeface="Calibri" pitchFamily="34" charset="-120"/>
              </a:rPr>
              <a:t>SSH • Web Server • Application</a:t>
            </a:r>
            <a:endParaRPr lang="en-US" sz="950" dirty="0"/>
          </a:p>
        </p:txBody>
      </p:sp>
      <p:sp>
        <p:nvSpPr>
          <p:cNvPr id="7" name="Shape 5"/>
          <p:cNvSpPr/>
          <p:nvPr/>
        </p:nvSpPr>
        <p:spPr>
          <a:xfrm>
            <a:off x="6094476" y="2075688"/>
            <a:ext cx="0" cy="320040"/>
          </a:xfrm>
          <a:prstGeom prst="line">
            <a:avLst/>
          </a:prstGeom>
          <a:noFill/>
          <a:ln w="25400">
            <a:solidFill>
              <a:srgbClr val="1E2761"/>
            </a:solidFill>
            <a:prstDash val="solid"/>
            <a:tailEnd type="triangle"/>
          </a:ln>
        </p:spPr>
        <p:txBody>
          <a:bodyPr/>
          <a:lstStyle/>
          <a:p>
            <a:endParaRPr lang="en-KE"/>
          </a:p>
        </p:txBody>
      </p:sp>
      <p:sp>
        <p:nvSpPr>
          <p:cNvPr id="8" name="Shape 6"/>
          <p:cNvSpPr/>
          <p:nvPr/>
        </p:nvSpPr>
        <p:spPr>
          <a:xfrm>
            <a:off x="4677156" y="2395728"/>
            <a:ext cx="2834640" cy="566928"/>
          </a:xfrm>
          <a:prstGeom prst="roundRect">
            <a:avLst>
              <a:gd name="adj" fmla="val 14516"/>
            </a:avLst>
          </a:prstGeom>
          <a:solidFill>
            <a:srgbClr val="028090"/>
          </a:solidFill>
          <a:ln/>
        </p:spPr>
        <p:txBody>
          <a:bodyPr/>
          <a:lstStyle/>
          <a:p>
            <a:endParaRPr lang="en-KE"/>
          </a:p>
        </p:txBody>
      </p:sp>
      <p:sp>
        <p:nvSpPr>
          <p:cNvPr id="9" name="Text 7"/>
          <p:cNvSpPr/>
          <p:nvPr/>
        </p:nvSpPr>
        <p:spPr>
          <a:xfrm>
            <a:off x="4814316" y="2450592"/>
            <a:ext cx="2560320" cy="2743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Python Log Ingestion Script</a:t>
            </a:r>
            <a:endParaRPr lang="en-US" sz="1300" dirty="0"/>
          </a:p>
        </p:txBody>
      </p:sp>
      <p:sp>
        <p:nvSpPr>
          <p:cNvPr id="10" name="Text 8"/>
          <p:cNvSpPr/>
          <p:nvPr/>
        </p:nvSpPr>
        <p:spPr>
          <a:xfrm>
            <a:off x="4814316" y="2697480"/>
            <a:ext cx="2560320" cy="228600"/>
          </a:xfrm>
          <a:prstGeom prst="rect">
            <a:avLst/>
          </a:prstGeom>
          <a:noFill/>
          <a:ln/>
        </p:spPr>
        <p:txBody>
          <a:bodyPr wrap="square" rtlCol="0" anchor="ctr"/>
          <a:lstStyle/>
          <a:p>
            <a:pPr marL="0" indent="0" algn="ctr">
              <a:buNone/>
            </a:pPr>
            <a:r>
              <a:rPr lang="en-US" sz="950" dirty="0">
                <a:solidFill>
                  <a:srgbClr val="CADCFC"/>
                </a:solidFill>
                <a:latin typeface="Calibri" pitchFamily="34" charset="0"/>
                <a:ea typeface="Calibri" pitchFamily="34" charset="-122"/>
                <a:cs typeface="Calibri" pitchFamily="34" charset="-120"/>
              </a:rPr>
              <a:t>scripts/ingest_logs.py</a:t>
            </a:r>
            <a:endParaRPr lang="en-US" sz="950" dirty="0"/>
          </a:p>
        </p:txBody>
      </p:sp>
      <p:sp>
        <p:nvSpPr>
          <p:cNvPr id="11" name="Shape 9"/>
          <p:cNvSpPr/>
          <p:nvPr/>
        </p:nvSpPr>
        <p:spPr>
          <a:xfrm>
            <a:off x="6094476" y="2962656"/>
            <a:ext cx="0" cy="320040"/>
          </a:xfrm>
          <a:prstGeom prst="line">
            <a:avLst/>
          </a:prstGeom>
          <a:noFill/>
          <a:ln w="25400">
            <a:solidFill>
              <a:srgbClr val="1E2761"/>
            </a:solidFill>
            <a:prstDash val="solid"/>
            <a:tailEnd type="triangle"/>
          </a:ln>
        </p:spPr>
        <p:txBody>
          <a:bodyPr/>
          <a:lstStyle/>
          <a:p>
            <a:endParaRPr lang="en-KE"/>
          </a:p>
        </p:txBody>
      </p:sp>
      <p:sp>
        <p:nvSpPr>
          <p:cNvPr id="12" name="Text 10"/>
          <p:cNvSpPr/>
          <p:nvPr/>
        </p:nvSpPr>
        <p:spPr>
          <a:xfrm>
            <a:off x="4677156" y="3282696"/>
            <a:ext cx="2834640" cy="274320"/>
          </a:xfrm>
          <a:prstGeom prst="rect">
            <a:avLst/>
          </a:prstGeom>
          <a:noFill/>
          <a:ln/>
        </p:spPr>
        <p:txBody>
          <a:bodyPr wrap="square" rtlCol="0" anchor="ctr"/>
          <a:lstStyle/>
          <a:p>
            <a:pPr marL="0" indent="0" algn="ctr">
              <a:buNone/>
            </a:pPr>
            <a:r>
              <a:rPr lang="en-US" sz="1150" i="1" dirty="0">
                <a:solidFill>
                  <a:srgbClr val="5B6472"/>
                </a:solidFill>
                <a:latin typeface="Calibri" pitchFamily="34" charset="0"/>
                <a:ea typeface="Calibri" pitchFamily="34" charset="-122"/>
                <a:cs typeface="Calibri" pitchFamily="34" charset="-120"/>
              </a:rPr>
              <a:t>REST API — Port 9200</a:t>
            </a:r>
            <a:endParaRPr lang="en-US" sz="1150" dirty="0"/>
          </a:p>
        </p:txBody>
      </p:sp>
      <p:sp>
        <p:nvSpPr>
          <p:cNvPr id="13" name="Shape 11"/>
          <p:cNvSpPr/>
          <p:nvPr/>
        </p:nvSpPr>
        <p:spPr>
          <a:xfrm>
            <a:off x="6094476" y="3557016"/>
            <a:ext cx="0" cy="374904"/>
          </a:xfrm>
          <a:prstGeom prst="line">
            <a:avLst/>
          </a:prstGeom>
          <a:noFill/>
          <a:ln w="25400">
            <a:solidFill>
              <a:srgbClr val="1E2761"/>
            </a:solidFill>
            <a:prstDash val="solid"/>
            <a:tailEnd type="triangle"/>
          </a:ln>
        </p:spPr>
        <p:txBody>
          <a:bodyPr/>
          <a:lstStyle/>
          <a:p>
            <a:endParaRPr lang="en-KE"/>
          </a:p>
        </p:txBody>
      </p:sp>
      <p:sp>
        <p:nvSpPr>
          <p:cNvPr id="14" name="Shape 12"/>
          <p:cNvSpPr/>
          <p:nvPr/>
        </p:nvSpPr>
        <p:spPr>
          <a:xfrm>
            <a:off x="4677156" y="3931920"/>
            <a:ext cx="2834640" cy="566928"/>
          </a:xfrm>
          <a:prstGeom prst="roundRect">
            <a:avLst>
              <a:gd name="adj" fmla="val 14516"/>
            </a:avLst>
          </a:prstGeom>
          <a:solidFill>
            <a:srgbClr val="1E2761"/>
          </a:solidFill>
          <a:ln/>
        </p:spPr>
        <p:txBody>
          <a:bodyPr/>
          <a:lstStyle/>
          <a:p>
            <a:endParaRPr lang="en-KE"/>
          </a:p>
        </p:txBody>
      </p:sp>
      <p:sp>
        <p:nvSpPr>
          <p:cNvPr id="15" name="Text 13"/>
          <p:cNvSpPr/>
          <p:nvPr/>
        </p:nvSpPr>
        <p:spPr>
          <a:xfrm>
            <a:off x="4814316" y="3986784"/>
            <a:ext cx="2560320" cy="2743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OpenSearch</a:t>
            </a:r>
            <a:endParaRPr lang="en-US" sz="1300" dirty="0"/>
          </a:p>
        </p:txBody>
      </p:sp>
      <p:sp>
        <p:nvSpPr>
          <p:cNvPr id="16" name="Text 14"/>
          <p:cNvSpPr/>
          <p:nvPr/>
        </p:nvSpPr>
        <p:spPr>
          <a:xfrm>
            <a:off x="4814316" y="4233672"/>
            <a:ext cx="2560320" cy="228600"/>
          </a:xfrm>
          <a:prstGeom prst="rect">
            <a:avLst/>
          </a:prstGeom>
          <a:noFill/>
          <a:ln/>
        </p:spPr>
        <p:txBody>
          <a:bodyPr wrap="square" rtlCol="0" anchor="ctr"/>
          <a:lstStyle/>
          <a:p>
            <a:pPr marL="0" indent="0" algn="ctr">
              <a:buNone/>
            </a:pPr>
            <a:r>
              <a:rPr lang="en-US" sz="950" dirty="0">
                <a:solidFill>
                  <a:srgbClr val="CADCFC"/>
                </a:solidFill>
                <a:latin typeface="Calibri" pitchFamily="34" charset="0"/>
                <a:ea typeface="Calibri" pitchFamily="34" charset="-122"/>
                <a:cs typeface="Calibri" pitchFamily="34" charset="-120"/>
              </a:rPr>
              <a:t>Log storage &amp; indexing</a:t>
            </a:r>
            <a:endParaRPr lang="en-US" sz="950" dirty="0"/>
          </a:p>
        </p:txBody>
      </p:sp>
      <p:sp>
        <p:nvSpPr>
          <p:cNvPr id="17" name="Shape 15"/>
          <p:cNvSpPr/>
          <p:nvPr/>
        </p:nvSpPr>
        <p:spPr>
          <a:xfrm>
            <a:off x="6094476" y="4498848"/>
            <a:ext cx="0" cy="320040"/>
          </a:xfrm>
          <a:prstGeom prst="line">
            <a:avLst/>
          </a:prstGeom>
          <a:noFill/>
          <a:ln w="25400">
            <a:solidFill>
              <a:srgbClr val="1E2761"/>
            </a:solidFill>
            <a:prstDash val="solid"/>
            <a:tailEnd type="triangle"/>
          </a:ln>
        </p:spPr>
        <p:txBody>
          <a:bodyPr/>
          <a:lstStyle/>
          <a:p>
            <a:endParaRPr lang="en-KE"/>
          </a:p>
        </p:txBody>
      </p:sp>
      <p:sp>
        <p:nvSpPr>
          <p:cNvPr id="18" name="Shape 16"/>
          <p:cNvSpPr/>
          <p:nvPr/>
        </p:nvSpPr>
        <p:spPr>
          <a:xfrm>
            <a:off x="4677156" y="4818888"/>
            <a:ext cx="2834640" cy="566928"/>
          </a:xfrm>
          <a:prstGeom prst="roundRect">
            <a:avLst>
              <a:gd name="adj" fmla="val 14516"/>
            </a:avLst>
          </a:prstGeom>
          <a:solidFill>
            <a:srgbClr val="1E2761"/>
          </a:solidFill>
          <a:ln/>
        </p:spPr>
        <p:txBody>
          <a:bodyPr/>
          <a:lstStyle/>
          <a:p>
            <a:endParaRPr lang="en-KE"/>
          </a:p>
        </p:txBody>
      </p:sp>
      <p:sp>
        <p:nvSpPr>
          <p:cNvPr id="19" name="Text 17"/>
          <p:cNvSpPr/>
          <p:nvPr/>
        </p:nvSpPr>
        <p:spPr>
          <a:xfrm>
            <a:off x="4814316" y="4873752"/>
            <a:ext cx="2560320" cy="2743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OpenSearch Dashboards</a:t>
            </a:r>
            <a:endParaRPr lang="en-US" sz="1300" dirty="0"/>
          </a:p>
        </p:txBody>
      </p:sp>
      <p:sp>
        <p:nvSpPr>
          <p:cNvPr id="20" name="Text 18"/>
          <p:cNvSpPr/>
          <p:nvPr/>
        </p:nvSpPr>
        <p:spPr>
          <a:xfrm>
            <a:off x="4814316" y="5120640"/>
            <a:ext cx="2560320" cy="228600"/>
          </a:xfrm>
          <a:prstGeom prst="rect">
            <a:avLst/>
          </a:prstGeom>
          <a:noFill/>
          <a:ln/>
        </p:spPr>
        <p:txBody>
          <a:bodyPr wrap="square" rtlCol="0" anchor="ctr"/>
          <a:lstStyle/>
          <a:p>
            <a:pPr marL="0" indent="0" algn="ctr">
              <a:buNone/>
            </a:pPr>
            <a:r>
              <a:rPr lang="en-US" sz="950" dirty="0">
                <a:solidFill>
                  <a:srgbClr val="CADCFC"/>
                </a:solidFill>
                <a:latin typeface="Calibri" pitchFamily="34" charset="0"/>
                <a:ea typeface="Calibri" pitchFamily="34" charset="-122"/>
                <a:cs typeface="Calibri" pitchFamily="34" charset="-120"/>
              </a:rPr>
              <a:t>Visualization • Port 5601</a:t>
            </a:r>
            <a:endParaRPr lang="en-US" sz="950" dirty="0"/>
          </a:p>
        </p:txBody>
      </p:sp>
      <p:sp>
        <p:nvSpPr>
          <p:cNvPr id="21" name="Shape 19"/>
          <p:cNvSpPr/>
          <p:nvPr/>
        </p:nvSpPr>
        <p:spPr>
          <a:xfrm>
            <a:off x="6094476" y="5385816"/>
            <a:ext cx="0" cy="320040"/>
          </a:xfrm>
          <a:prstGeom prst="line">
            <a:avLst/>
          </a:prstGeom>
          <a:noFill/>
          <a:ln w="25400">
            <a:solidFill>
              <a:srgbClr val="1E2761"/>
            </a:solidFill>
            <a:prstDash val="solid"/>
            <a:tailEnd type="triangle"/>
          </a:ln>
        </p:spPr>
        <p:txBody>
          <a:bodyPr/>
          <a:lstStyle/>
          <a:p>
            <a:endParaRPr lang="en-KE"/>
          </a:p>
        </p:txBody>
      </p:sp>
      <p:sp>
        <p:nvSpPr>
          <p:cNvPr id="22" name="Shape 20"/>
          <p:cNvSpPr/>
          <p:nvPr/>
        </p:nvSpPr>
        <p:spPr>
          <a:xfrm>
            <a:off x="4677156" y="5705856"/>
            <a:ext cx="2834640" cy="566928"/>
          </a:xfrm>
          <a:prstGeom prst="roundRect">
            <a:avLst>
              <a:gd name="adj" fmla="val 14516"/>
            </a:avLst>
          </a:prstGeom>
          <a:solidFill>
            <a:srgbClr val="02C39A"/>
          </a:solidFill>
          <a:ln/>
        </p:spPr>
        <p:txBody>
          <a:bodyPr/>
          <a:lstStyle/>
          <a:p>
            <a:endParaRPr lang="en-KE"/>
          </a:p>
        </p:txBody>
      </p:sp>
      <p:sp>
        <p:nvSpPr>
          <p:cNvPr id="23" name="Text 21"/>
          <p:cNvSpPr/>
          <p:nvPr/>
        </p:nvSpPr>
        <p:spPr>
          <a:xfrm>
            <a:off x="4814316" y="5760720"/>
            <a:ext cx="2560320" cy="2743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Security Administrator</a:t>
            </a:r>
            <a:endParaRPr lang="en-US" sz="1300" dirty="0"/>
          </a:p>
        </p:txBody>
      </p:sp>
      <p:sp>
        <p:nvSpPr>
          <p:cNvPr id="24" name="Text 22"/>
          <p:cNvSpPr/>
          <p:nvPr/>
        </p:nvSpPr>
        <p:spPr>
          <a:xfrm>
            <a:off x="4814316" y="6007608"/>
            <a:ext cx="2560320" cy="228600"/>
          </a:xfrm>
          <a:prstGeom prst="rect">
            <a:avLst/>
          </a:prstGeom>
          <a:noFill/>
          <a:ln/>
        </p:spPr>
        <p:txBody>
          <a:bodyPr wrap="square"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Monitoring &amp; threat analysis</a:t>
            </a:r>
            <a:endParaRPr lang="en-US" sz="950" dirty="0"/>
          </a:p>
        </p:txBody>
      </p:sp>
      <p:sp>
        <p:nvSpPr>
          <p:cNvPr id="25" name="Text 23"/>
          <p:cNvSpPr/>
          <p:nvPr/>
        </p:nvSpPr>
        <p:spPr>
          <a:xfrm>
            <a:off x="7589520" y="2331720"/>
            <a:ext cx="1645920" cy="274320"/>
          </a:xfrm>
          <a:prstGeom prst="rect">
            <a:avLst/>
          </a:prstGeom>
          <a:noFill/>
          <a:ln/>
        </p:spPr>
        <p:txBody>
          <a:bodyPr wrap="square" rtlCol="0" anchor="ctr"/>
          <a:lstStyle/>
          <a:p>
            <a:pPr marL="0" indent="0">
              <a:buNone/>
            </a:pPr>
            <a:r>
              <a:rPr lang="en-US" sz="1000" i="1" dirty="0">
                <a:solidFill>
                  <a:srgbClr val="5B6472"/>
                </a:solidFill>
                <a:latin typeface="Calibri" pitchFamily="34" charset="0"/>
                <a:ea typeface="Calibri" pitchFamily="34" charset="-122"/>
                <a:cs typeface="Calibri" pitchFamily="34" charset="-120"/>
              </a:rPr>
              <a:t>Ingestion</a:t>
            </a:r>
            <a:endParaRPr lang="en-US" sz="1000" dirty="0"/>
          </a:p>
        </p:txBody>
      </p:sp>
      <p:sp>
        <p:nvSpPr>
          <p:cNvPr id="26" name="Text 24"/>
          <p:cNvSpPr/>
          <p:nvPr/>
        </p:nvSpPr>
        <p:spPr>
          <a:xfrm>
            <a:off x="7589520" y="3867912"/>
            <a:ext cx="2011680" cy="274320"/>
          </a:xfrm>
          <a:prstGeom prst="rect">
            <a:avLst/>
          </a:prstGeom>
          <a:noFill/>
          <a:ln/>
        </p:spPr>
        <p:txBody>
          <a:bodyPr wrap="square" rtlCol="0" anchor="ctr"/>
          <a:lstStyle/>
          <a:p>
            <a:pPr marL="0" indent="0">
              <a:buNone/>
            </a:pPr>
            <a:r>
              <a:rPr lang="en-US" sz="1000" i="1" dirty="0">
                <a:solidFill>
                  <a:srgbClr val="5B6472"/>
                </a:solidFill>
                <a:latin typeface="Calibri" pitchFamily="34" charset="0"/>
                <a:ea typeface="Calibri" pitchFamily="34" charset="-122"/>
                <a:cs typeface="Calibri" pitchFamily="34" charset="-120"/>
              </a:rPr>
              <a:t>Storage &amp; Indexing</a:t>
            </a:r>
            <a:endParaRPr lang="en-US" sz="1000" dirty="0"/>
          </a:p>
        </p:txBody>
      </p:sp>
      <p:sp>
        <p:nvSpPr>
          <p:cNvPr id="27" name="Text 25"/>
          <p:cNvSpPr/>
          <p:nvPr/>
        </p:nvSpPr>
        <p:spPr>
          <a:xfrm>
            <a:off x="7589520" y="4754880"/>
            <a:ext cx="2011680" cy="274320"/>
          </a:xfrm>
          <a:prstGeom prst="rect">
            <a:avLst/>
          </a:prstGeom>
          <a:noFill/>
          <a:ln/>
        </p:spPr>
        <p:txBody>
          <a:bodyPr wrap="square" rtlCol="0" anchor="ctr"/>
          <a:lstStyle/>
          <a:p>
            <a:pPr marL="0" indent="0">
              <a:buNone/>
            </a:pPr>
            <a:r>
              <a:rPr lang="en-US" sz="1000" i="1" dirty="0">
                <a:solidFill>
                  <a:srgbClr val="5B6472"/>
                </a:solidFill>
                <a:latin typeface="Calibri" pitchFamily="34" charset="0"/>
                <a:ea typeface="Calibri" pitchFamily="34" charset="-122"/>
                <a:cs typeface="Calibri" pitchFamily="34" charset="-120"/>
              </a:rPr>
              <a:t>Monitoring Layer</a:t>
            </a:r>
            <a:endParaRPr lang="en-US" sz="1000" dirty="0"/>
          </a:p>
        </p:txBody>
      </p:sp>
      <p:sp>
        <p:nvSpPr>
          <p:cNvPr id="28" name="Text 26"/>
          <p:cNvSpPr/>
          <p:nvPr/>
        </p:nvSpPr>
        <p:spPr>
          <a:xfrm>
            <a:off x="548640" y="6528816"/>
            <a:ext cx="7315200" cy="256032"/>
          </a:xfrm>
          <a:prstGeom prst="rect">
            <a:avLst/>
          </a:prstGeom>
          <a:noFill/>
          <a:ln/>
        </p:spPr>
        <p:txBody>
          <a:bodyPr wrap="square" rtlCol="0" anchor="ctr"/>
          <a:lstStyle/>
          <a:p>
            <a:pPr marL="0" indent="0">
              <a:buNone/>
            </a:pPr>
            <a:r>
              <a:rPr lang="en-US" sz="950" dirty="0">
                <a:solidFill>
                  <a:srgbClr val="9AA6C9"/>
                </a:solidFill>
                <a:latin typeface="Calibri" pitchFamily="34" charset="0"/>
                <a:ea typeface="Calibri" pitchFamily="34" charset="-122"/>
                <a:cs typeface="Calibri" pitchFamily="34" charset="-120"/>
              </a:rPr>
              <a:t>Centralized Log Monitoring System  |  Group 6</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92608"/>
          </a:xfrm>
          <a:prstGeom prst="rect">
            <a:avLst/>
          </a:prstGeom>
          <a:noFill/>
          <a:ln/>
        </p:spPr>
        <p:txBody>
          <a:bodyPr wrap="square"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ARCHITECTURE</a:t>
            </a:r>
            <a:endParaRPr lang="en-US" sz="1300" dirty="0"/>
          </a:p>
        </p:txBody>
      </p:sp>
      <p:sp>
        <p:nvSpPr>
          <p:cNvPr id="3" name="Text 1"/>
          <p:cNvSpPr/>
          <p:nvPr/>
        </p:nvSpPr>
        <p:spPr>
          <a:xfrm>
            <a:off x="548640" y="566928"/>
            <a:ext cx="10789920" cy="658368"/>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Log Ingestion in Action</a:t>
            </a:r>
            <a:endParaRPr lang="en-US" sz="3000" dirty="0"/>
          </a:p>
        </p:txBody>
      </p:sp>
      <p:sp>
        <p:nvSpPr>
          <p:cNvPr id="4" name="Text 2"/>
          <p:cNvSpPr/>
          <p:nvPr/>
        </p:nvSpPr>
        <p:spPr>
          <a:xfrm>
            <a:off x="548640" y="1536192"/>
            <a:ext cx="10607040" cy="685800"/>
          </a:xfrm>
          <a:prstGeom prst="rect">
            <a:avLst/>
          </a:prstGeom>
          <a:noFill/>
          <a:ln/>
        </p:spPr>
        <p:txBody>
          <a:bodyPr wrap="square" rtlCol="0" anchor="ctr"/>
          <a:lstStyle/>
          <a:p>
            <a:pPr marL="0" indent="0">
              <a:lnSpc>
                <a:spcPts val="1900"/>
              </a:lnSpc>
              <a:buNone/>
            </a:pPr>
            <a:r>
              <a:rPr lang="en-US" sz="1400" dirty="0">
                <a:solidFill>
                  <a:srgbClr val="1A1A2E"/>
                </a:solidFill>
                <a:latin typeface="Calibri" pitchFamily="34" charset="0"/>
                <a:ea typeface="Calibri" pitchFamily="34" charset="-122"/>
                <a:cs typeface="Calibri" pitchFamily="34" charset="-120"/>
              </a:rPr>
              <a:t>The ingestion script reads records from each log source and pushes them into OpenSearch through its REST API on port 9200, where they are indexed for search and visualization.</a:t>
            </a:r>
            <a:endParaRPr lang="en-US" sz="1400" dirty="0"/>
          </a:p>
        </p:txBody>
      </p:sp>
      <p:sp>
        <p:nvSpPr>
          <p:cNvPr id="5" name="Shape 3"/>
          <p:cNvSpPr/>
          <p:nvPr/>
        </p:nvSpPr>
        <p:spPr>
          <a:xfrm>
            <a:off x="2139696" y="2276856"/>
            <a:ext cx="7882128" cy="4133088"/>
          </a:xfrm>
          <a:prstGeom prst="roundRect">
            <a:avLst>
              <a:gd name="adj" fmla="val 1770"/>
            </a:avLst>
          </a:prstGeom>
          <a:solidFill>
            <a:srgbClr val="FFFFFF"/>
          </a:solidFill>
          <a:ln w="12700">
            <a:solidFill>
              <a:srgbClr val="E2E8F0"/>
            </a:solidFill>
            <a:prstDash val="solid"/>
          </a:ln>
          <a:effectLst>
            <a:outerShdw blurRad="101600" dist="38100" dir="5400000" algn="bl" rotWithShape="0">
              <a:srgbClr val="1E2761">
                <a:alpha val="18000"/>
              </a:srgbClr>
            </a:outerShdw>
          </a:effectLst>
        </p:spPr>
        <p:txBody>
          <a:bodyPr/>
          <a:lstStyle/>
          <a:p>
            <a:endParaRPr lang="en-KE"/>
          </a:p>
        </p:txBody>
      </p:sp>
      <p:pic>
        <p:nvPicPr>
          <p:cNvPr id="6" name="Image 0" descr="media/Screenshot_2026-07-20_142318.png"/>
          <p:cNvPicPr>
            <a:picLocks noChangeAspect="1"/>
          </p:cNvPicPr>
          <p:nvPr/>
        </p:nvPicPr>
        <p:blipFill>
          <a:blip r:embed="rId3"/>
          <a:srcRect/>
          <a:stretch/>
        </p:blipFill>
        <p:spPr>
          <a:xfrm>
            <a:off x="2194560" y="2331720"/>
            <a:ext cx="7772400" cy="4023360"/>
          </a:xfrm>
          <a:prstGeom prst="rect">
            <a:avLst/>
          </a:prstGeom>
        </p:spPr>
      </p:pic>
      <p:sp>
        <p:nvSpPr>
          <p:cNvPr id="7" name="Text 4"/>
          <p:cNvSpPr/>
          <p:nvPr/>
        </p:nvSpPr>
        <p:spPr>
          <a:xfrm>
            <a:off x="2139696" y="6437376"/>
            <a:ext cx="7882128" cy="292608"/>
          </a:xfrm>
          <a:prstGeom prst="rect">
            <a:avLst/>
          </a:prstGeom>
          <a:noFill/>
          <a:ln/>
        </p:spPr>
        <p:txBody>
          <a:bodyPr wrap="square" rtlCol="0" anchor="ctr"/>
          <a:lstStyle/>
          <a:p>
            <a:pPr marL="0" indent="0" algn="ctr">
              <a:buNone/>
            </a:pPr>
            <a:r>
              <a:rPr lang="en-US" sz="1100" i="1" dirty="0">
                <a:solidFill>
                  <a:srgbClr val="5B6472"/>
                </a:solidFill>
                <a:latin typeface="Calibri" pitchFamily="34" charset="0"/>
                <a:ea typeface="Calibri" pitchFamily="34" charset="-122"/>
                <a:cs typeface="Calibri" pitchFamily="34" charset="-120"/>
              </a:rPr>
              <a:t>Ingestion script indexing SSH, web, and application logs into OpenSearch</a:t>
            </a:r>
            <a:endParaRPr lang="en-US" sz="1100" dirty="0"/>
          </a:p>
        </p:txBody>
      </p:sp>
      <p:sp>
        <p:nvSpPr>
          <p:cNvPr id="8" name="Text 5"/>
          <p:cNvSpPr/>
          <p:nvPr/>
        </p:nvSpPr>
        <p:spPr>
          <a:xfrm>
            <a:off x="548640" y="6528816"/>
            <a:ext cx="7315200" cy="256032"/>
          </a:xfrm>
          <a:prstGeom prst="rect">
            <a:avLst/>
          </a:prstGeom>
          <a:noFill/>
          <a:ln/>
        </p:spPr>
        <p:txBody>
          <a:bodyPr wrap="square" rtlCol="0" anchor="ctr"/>
          <a:lstStyle/>
          <a:p>
            <a:pPr marL="0" indent="0">
              <a:buNone/>
            </a:pPr>
            <a:r>
              <a:rPr lang="en-US" sz="950" dirty="0">
                <a:solidFill>
                  <a:srgbClr val="9AA6C9"/>
                </a:solidFill>
                <a:latin typeface="Calibri" pitchFamily="34" charset="0"/>
                <a:ea typeface="Calibri" pitchFamily="34" charset="-122"/>
                <a:cs typeface="Calibri" pitchFamily="34" charset="-120"/>
              </a:rPr>
              <a:t>Centralized Log Monitoring System  |  Group 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92608"/>
          </a:xfrm>
          <a:prstGeom prst="rect">
            <a:avLst/>
          </a:prstGeom>
          <a:noFill/>
          <a:ln/>
        </p:spPr>
        <p:txBody>
          <a:bodyPr wrap="square"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PART C</a:t>
            </a:r>
            <a:endParaRPr lang="en-US" sz="1300" dirty="0"/>
          </a:p>
        </p:txBody>
      </p:sp>
      <p:sp>
        <p:nvSpPr>
          <p:cNvPr id="3" name="Text 1"/>
          <p:cNvSpPr/>
          <p:nvPr/>
        </p:nvSpPr>
        <p:spPr>
          <a:xfrm>
            <a:off x="548640" y="566928"/>
            <a:ext cx="10789920" cy="658368"/>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Security Controls</a:t>
            </a:r>
            <a:endParaRPr lang="en-US" sz="3000" dirty="0"/>
          </a:p>
        </p:txBody>
      </p:sp>
      <p:sp>
        <p:nvSpPr>
          <p:cNvPr id="4" name="Shape 2"/>
          <p:cNvSpPr/>
          <p:nvPr/>
        </p:nvSpPr>
        <p:spPr>
          <a:xfrm>
            <a:off x="548640" y="1554480"/>
            <a:ext cx="5349240" cy="4617720"/>
          </a:xfrm>
          <a:prstGeom prst="roundRect">
            <a:avLst>
              <a:gd name="adj" fmla="val 1782"/>
            </a:avLst>
          </a:prstGeom>
          <a:solidFill>
            <a:srgbClr val="FFFFFF"/>
          </a:solidFill>
          <a:ln w="12700">
            <a:solidFill>
              <a:srgbClr val="E2E8F0"/>
            </a:solidFill>
            <a:prstDash val="solid"/>
          </a:ln>
        </p:spPr>
        <p:txBody>
          <a:bodyPr/>
          <a:lstStyle/>
          <a:p>
            <a:endParaRPr lang="en-KE"/>
          </a:p>
        </p:txBody>
      </p:sp>
      <p:sp>
        <p:nvSpPr>
          <p:cNvPr id="5" name="Text 3"/>
          <p:cNvSpPr/>
          <p:nvPr/>
        </p:nvSpPr>
        <p:spPr>
          <a:xfrm>
            <a:off x="868680" y="1783080"/>
            <a:ext cx="4572000" cy="365760"/>
          </a:xfrm>
          <a:prstGeom prst="rect">
            <a:avLst/>
          </a:prstGeom>
          <a:noFill/>
          <a:ln/>
        </p:spPr>
        <p:txBody>
          <a:bodyPr wrap="square"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Implemented</a:t>
            </a:r>
            <a:endParaRPr lang="en-US" sz="1700" dirty="0"/>
          </a:p>
        </p:txBody>
      </p:sp>
      <p:sp>
        <p:nvSpPr>
          <p:cNvPr id="6" name="Shape 4"/>
          <p:cNvSpPr/>
          <p:nvPr/>
        </p:nvSpPr>
        <p:spPr>
          <a:xfrm>
            <a:off x="868680" y="2377440"/>
            <a:ext cx="365760" cy="365760"/>
          </a:xfrm>
          <a:prstGeom prst="ellipse">
            <a:avLst/>
          </a:prstGeom>
          <a:solidFill>
            <a:srgbClr val="02C39A"/>
          </a:solidFill>
          <a:ln/>
        </p:spPr>
        <p:txBody>
          <a:bodyPr/>
          <a:lstStyle/>
          <a:p>
            <a:endParaRPr lang="en-KE"/>
          </a:p>
        </p:txBody>
      </p:sp>
      <p:sp>
        <p:nvSpPr>
          <p:cNvPr id="7" name="Text 5"/>
          <p:cNvSpPr/>
          <p:nvPr/>
        </p:nvSpPr>
        <p:spPr>
          <a:xfrm>
            <a:off x="868680" y="2377440"/>
            <a:ext cx="365760" cy="365760"/>
          </a:xfrm>
          <a:prstGeom prst="rect">
            <a:avLst/>
          </a:prstGeom>
          <a:noFill/>
          <a:ln/>
        </p:spPr>
        <p:txBody>
          <a:bodyPr wrap="square"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a:t>
            </a:r>
            <a:endParaRPr lang="en-US" sz="1400" dirty="0"/>
          </a:p>
        </p:txBody>
      </p:sp>
      <p:sp>
        <p:nvSpPr>
          <p:cNvPr id="8" name="Text 6"/>
          <p:cNvSpPr/>
          <p:nvPr/>
        </p:nvSpPr>
        <p:spPr>
          <a:xfrm>
            <a:off x="1371600" y="2350008"/>
            <a:ext cx="4297680" cy="420624"/>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Centralized Logging</a:t>
            </a:r>
            <a:endParaRPr lang="en-US" sz="1400" dirty="0"/>
          </a:p>
        </p:txBody>
      </p:sp>
      <p:sp>
        <p:nvSpPr>
          <p:cNvPr id="9" name="Shape 7"/>
          <p:cNvSpPr/>
          <p:nvPr/>
        </p:nvSpPr>
        <p:spPr>
          <a:xfrm>
            <a:off x="868680" y="3063240"/>
            <a:ext cx="365760" cy="365760"/>
          </a:xfrm>
          <a:prstGeom prst="ellipse">
            <a:avLst/>
          </a:prstGeom>
          <a:solidFill>
            <a:srgbClr val="02C39A"/>
          </a:solidFill>
          <a:ln/>
        </p:spPr>
        <p:txBody>
          <a:bodyPr/>
          <a:lstStyle/>
          <a:p>
            <a:endParaRPr lang="en-KE"/>
          </a:p>
        </p:txBody>
      </p:sp>
      <p:sp>
        <p:nvSpPr>
          <p:cNvPr id="10" name="Text 8"/>
          <p:cNvSpPr/>
          <p:nvPr/>
        </p:nvSpPr>
        <p:spPr>
          <a:xfrm>
            <a:off x="868680" y="3063240"/>
            <a:ext cx="365760" cy="365760"/>
          </a:xfrm>
          <a:prstGeom prst="rect">
            <a:avLst/>
          </a:prstGeom>
          <a:noFill/>
          <a:ln/>
        </p:spPr>
        <p:txBody>
          <a:bodyPr wrap="square"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a:t>
            </a:r>
            <a:endParaRPr lang="en-US" sz="1400" dirty="0"/>
          </a:p>
        </p:txBody>
      </p:sp>
      <p:sp>
        <p:nvSpPr>
          <p:cNvPr id="11" name="Text 9"/>
          <p:cNvSpPr/>
          <p:nvPr/>
        </p:nvSpPr>
        <p:spPr>
          <a:xfrm>
            <a:off x="1371600" y="3035808"/>
            <a:ext cx="4297680" cy="420624"/>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Log Indexing</a:t>
            </a:r>
            <a:endParaRPr lang="en-US" sz="1400" dirty="0"/>
          </a:p>
        </p:txBody>
      </p:sp>
      <p:sp>
        <p:nvSpPr>
          <p:cNvPr id="12" name="Shape 10"/>
          <p:cNvSpPr/>
          <p:nvPr/>
        </p:nvSpPr>
        <p:spPr>
          <a:xfrm>
            <a:off x="868680" y="3749040"/>
            <a:ext cx="365760" cy="365760"/>
          </a:xfrm>
          <a:prstGeom prst="ellipse">
            <a:avLst/>
          </a:prstGeom>
          <a:solidFill>
            <a:srgbClr val="02C39A"/>
          </a:solidFill>
          <a:ln/>
        </p:spPr>
        <p:txBody>
          <a:bodyPr/>
          <a:lstStyle/>
          <a:p>
            <a:endParaRPr lang="en-KE"/>
          </a:p>
        </p:txBody>
      </p:sp>
      <p:sp>
        <p:nvSpPr>
          <p:cNvPr id="13" name="Text 11"/>
          <p:cNvSpPr/>
          <p:nvPr/>
        </p:nvSpPr>
        <p:spPr>
          <a:xfrm>
            <a:off x="868680" y="3749040"/>
            <a:ext cx="365760" cy="365760"/>
          </a:xfrm>
          <a:prstGeom prst="rect">
            <a:avLst/>
          </a:prstGeom>
          <a:noFill/>
          <a:ln/>
        </p:spPr>
        <p:txBody>
          <a:bodyPr wrap="square"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a:t>
            </a:r>
            <a:endParaRPr lang="en-US" sz="1400" dirty="0"/>
          </a:p>
        </p:txBody>
      </p:sp>
      <p:sp>
        <p:nvSpPr>
          <p:cNvPr id="14" name="Text 12"/>
          <p:cNvSpPr/>
          <p:nvPr/>
        </p:nvSpPr>
        <p:spPr>
          <a:xfrm>
            <a:off x="1371600" y="3721608"/>
            <a:ext cx="4297680" cy="420624"/>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Dashboard Monitoring</a:t>
            </a:r>
            <a:endParaRPr lang="en-US" sz="1400" dirty="0"/>
          </a:p>
        </p:txBody>
      </p:sp>
      <p:sp>
        <p:nvSpPr>
          <p:cNvPr id="15" name="Shape 13"/>
          <p:cNvSpPr/>
          <p:nvPr/>
        </p:nvSpPr>
        <p:spPr>
          <a:xfrm>
            <a:off x="868680" y="4434840"/>
            <a:ext cx="365760" cy="365760"/>
          </a:xfrm>
          <a:prstGeom prst="ellipse">
            <a:avLst/>
          </a:prstGeom>
          <a:solidFill>
            <a:srgbClr val="02C39A"/>
          </a:solidFill>
          <a:ln/>
        </p:spPr>
        <p:txBody>
          <a:bodyPr/>
          <a:lstStyle/>
          <a:p>
            <a:endParaRPr lang="en-KE"/>
          </a:p>
        </p:txBody>
      </p:sp>
      <p:sp>
        <p:nvSpPr>
          <p:cNvPr id="16" name="Text 14"/>
          <p:cNvSpPr/>
          <p:nvPr/>
        </p:nvSpPr>
        <p:spPr>
          <a:xfrm>
            <a:off x="868680" y="4434840"/>
            <a:ext cx="365760" cy="365760"/>
          </a:xfrm>
          <a:prstGeom prst="rect">
            <a:avLst/>
          </a:prstGeom>
          <a:noFill/>
          <a:ln/>
        </p:spPr>
        <p:txBody>
          <a:bodyPr wrap="square"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a:t>
            </a:r>
            <a:endParaRPr lang="en-US" sz="1400" dirty="0"/>
          </a:p>
        </p:txBody>
      </p:sp>
      <p:sp>
        <p:nvSpPr>
          <p:cNvPr id="17" name="Text 15"/>
          <p:cNvSpPr/>
          <p:nvPr/>
        </p:nvSpPr>
        <p:spPr>
          <a:xfrm>
            <a:off x="1371600" y="4407408"/>
            <a:ext cx="4297680" cy="420624"/>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Suspicious Activity Detection</a:t>
            </a:r>
            <a:endParaRPr lang="en-US" sz="1400" dirty="0"/>
          </a:p>
        </p:txBody>
      </p:sp>
      <p:sp>
        <p:nvSpPr>
          <p:cNvPr id="18" name="Shape 16"/>
          <p:cNvSpPr/>
          <p:nvPr/>
        </p:nvSpPr>
        <p:spPr>
          <a:xfrm>
            <a:off x="6263640" y="1554480"/>
            <a:ext cx="5349240" cy="4617720"/>
          </a:xfrm>
          <a:prstGeom prst="roundRect">
            <a:avLst>
              <a:gd name="adj" fmla="val 1782"/>
            </a:avLst>
          </a:prstGeom>
          <a:solidFill>
            <a:srgbClr val="1E2761"/>
          </a:solidFill>
          <a:ln/>
        </p:spPr>
        <p:txBody>
          <a:bodyPr/>
          <a:lstStyle/>
          <a:p>
            <a:endParaRPr lang="en-KE"/>
          </a:p>
        </p:txBody>
      </p:sp>
      <p:sp>
        <p:nvSpPr>
          <p:cNvPr id="19" name="Text 17"/>
          <p:cNvSpPr/>
          <p:nvPr/>
        </p:nvSpPr>
        <p:spPr>
          <a:xfrm>
            <a:off x="6583680" y="1783080"/>
            <a:ext cx="4572000" cy="365760"/>
          </a:xfrm>
          <a:prstGeom prst="rect">
            <a:avLst/>
          </a:prstGeom>
          <a:noFill/>
          <a:ln/>
        </p:spPr>
        <p:txBody>
          <a:bodyPr wrap="square"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Planned Improvements</a:t>
            </a:r>
            <a:endParaRPr lang="en-US" sz="1700" dirty="0"/>
          </a:p>
        </p:txBody>
      </p:sp>
      <p:sp>
        <p:nvSpPr>
          <p:cNvPr id="20" name="Shape 18"/>
          <p:cNvSpPr/>
          <p:nvPr/>
        </p:nvSpPr>
        <p:spPr>
          <a:xfrm>
            <a:off x="6583680" y="2377440"/>
            <a:ext cx="329184" cy="329184"/>
          </a:xfrm>
          <a:prstGeom prst="ellipse">
            <a:avLst/>
          </a:prstGeom>
          <a:solidFill>
            <a:srgbClr val="028090"/>
          </a:solidFill>
          <a:ln/>
        </p:spPr>
        <p:txBody>
          <a:bodyPr/>
          <a:lstStyle/>
          <a:p>
            <a:endParaRPr lang="en-KE"/>
          </a:p>
        </p:txBody>
      </p:sp>
      <p:sp>
        <p:nvSpPr>
          <p:cNvPr id="21" name="Text 19"/>
          <p:cNvSpPr/>
          <p:nvPr/>
        </p:nvSpPr>
        <p:spPr>
          <a:xfrm>
            <a:off x="6583680" y="2377440"/>
            <a:ext cx="329184" cy="32918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2" name="Text 20"/>
          <p:cNvSpPr/>
          <p:nvPr/>
        </p:nvSpPr>
        <p:spPr>
          <a:xfrm>
            <a:off x="7040880" y="2350008"/>
            <a:ext cx="4297680" cy="384048"/>
          </a:xfrm>
          <a:prstGeom prst="rect">
            <a:avLst/>
          </a:prstGeom>
          <a:noFill/>
          <a:ln/>
        </p:spPr>
        <p:txBody>
          <a:bodyPr wrap="square" rtlCol="0" anchor="ctr"/>
          <a:lstStyle/>
          <a:p>
            <a:pPr marL="0" indent="0">
              <a:buNone/>
            </a:pPr>
            <a:r>
              <a:rPr lang="en-US" sz="1350" dirty="0">
                <a:solidFill>
                  <a:srgbClr val="CADCFC"/>
                </a:solidFill>
                <a:latin typeface="Calibri" pitchFamily="34" charset="0"/>
                <a:ea typeface="Calibri" pitchFamily="34" charset="-122"/>
                <a:cs typeface="Calibri" pitchFamily="34" charset="-120"/>
              </a:rPr>
              <a:t>Authentication</a:t>
            </a:r>
            <a:endParaRPr lang="en-US" sz="1350" dirty="0"/>
          </a:p>
        </p:txBody>
      </p:sp>
      <p:sp>
        <p:nvSpPr>
          <p:cNvPr id="23" name="Shape 21"/>
          <p:cNvSpPr/>
          <p:nvPr/>
        </p:nvSpPr>
        <p:spPr>
          <a:xfrm>
            <a:off x="6583680" y="2980944"/>
            <a:ext cx="329184" cy="329184"/>
          </a:xfrm>
          <a:prstGeom prst="ellipse">
            <a:avLst/>
          </a:prstGeom>
          <a:solidFill>
            <a:srgbClr val="028090"/>
          </a:solidFill>
          <a:ln/>
        </p:spPr>
        <p:txBody>
          <a:bodyPr/>
          <a:lstStyle/>
          <a:p>
            <a:endParaRPr lang="en-KE"/>
          </a:p>
        </p:txBody>
      </p:sp>
      <p:sp>
        <p:nvSpPr>
          <p:cNvPr id="24" name="Text 22"/>
          <p:cNvSpPr/>
          <p:nvPr/>
        </p:nvSpPr>
        <p:spPr>
          <a:xfrm>
            <a:off x="6583680" y="2980944"/>
            <a:ext cx="329184" cy="32918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5" name="Text 23"/>
          <p:cNvSpPr/>
          <p:nvPr/>
        </p:nvSpPr>
        <p:spPr>
          <a:xfrm>
            <a:off x="7040880" y="2953512"/>
            <a:ext cx="4297680" cy="384048"/>
          </a:xfrm>
          <a:prstGeom prst="rect">
            <a:avLst/>
          </a:prstGeom>
          <a:noFill/>
          <a:ln/>
        </p:spPr>
        <p:txBody>
          <a:bodyPr wrap="square" rtlCol="0" anchor="ctr"/>
          <a:lstStyle/>
          <a:p>
            <a:pPr marL="0" indent="0">
              <a:buNone/>
            </a:pPr>
            <a:r>
              <a:rPr lang="en-US" sz="1350" dirty="0">
                <a:solidFill>
                  <a:srgbClr val="CADCFC"/>
                </a:solidFill>
                <a:latin typeface="Calibri" pitchFamily="34" charset="0"/>
                <a:ea typeface="Calibri" pitchFamily="34" charset="-122"/>
                <a:cs typeface="Calibri" pitchFamily="34" charset="-120"/>
              </a:rPr>
              <a:t>Role-Based Access Control</a:t>
            </a:r>
            <a:endParaRPr lang="en-US" sz="1350" dirty="0"/>
          </a:p>
        </p:txBody>
      </p:sp>
      <p:sp>
        <p:nvSpPr>
          <p:cNvPr id="26" name="Shape 24"/>
          <p:cNvSpPr/>
          <p:nvPr/>
        </p:nvSpPr>
        <p:spPr>
          <a:xfrm>
            <a:off x="6583680" y="3584448"/>
            <a:ext cx="329184" cy="329184"/>
          </a:xfrm>
          <a:prstGeom prst="ellipse">
            <a:avLst/>
          </a:prstGeom>
          <a:solidFill>
            <a:srgbClr val="028090"/>
          </a:solidFill>
          <a:ln/>
        </p:spPr>
        <p:txBody>
          <a:bodyPr/>
          <a:lstStyle/>
          <a:p>
            <a:endParaRPr lang="en-KE"/>
          </a:p>
        </p:txBody>
      </p:sp>
      <p:sp>
        <p:nvSpPr>
          <p:cNvPr id="27" name="Text 25"/>
          <p:cNvSpPr/>
          <p:nvPr/>
        </p:nvSpPr>
        <p:spPr>
          <a:xfrm>
            <a:off x="6583680" y="3584448"/>
            <a:ext cx="329184" cy="32918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8" name="Text 26"/>
          <p:cNvSpPr/>
          <p:nvPr/>
        </p:nvSpPr>
        <p:spPr>
          <a:xfrm>
            <a:off x="7040880" y="3557016"/>
            <a:ext cx="4297680" cy="384048"/>
          </a:xfrm>
          <a:prstGeom prst="rect">
            <a:avLst/>
          </a:prstGeom>
          <a:noFill/>
          <a:ln/>
        </p:spPr>
        <p:txBody>
          <a:bodyPr wrap="square" rtlCol="0" anchor="ctr"/>
          <a:lstStyle/>
          <a:p>
            <a:pPr marL="0" indent="0">
              <a:buNone/>
            </a:pPr>
            <a:r>
              <a:rPr lang="en-US" sz="1350" dirty="0">
                <a:solidFill>
                  <a:srgbClr val="CADCFC"/>
                </a:solidFill>
                <a:latin typeface="Calibri" pitchFamily="34" charset="0"/>
                <a:ea typeface="Calibri" pitchFamily="34" charset="-122"/>
                <a:cs typeface="Calibri" pitchFamily="34" charset="-120"/>
              </a:rPr>
              <a:t>HTTPS Encryption</a:t>
            </a:r>
            <a:endParaRPr lang="en-US" sz="1350" dirty="0"/>
          </a:p>
        </p:txBody>
      </p:sp>
      <p:sp>
        <p:nvSpPr>
          <p:cNvPr id="29" name="Shape 27"/>
          <p:cNvSpPr/>
          <p:nvPr/>
        </p:nvSpPr>
        <p:spPr>
          <a:xfrm>
            <a:off x="6583680" y="4187952"/>
            <a:ext cx="329184" cy="329184"/>
          </a:xfrm>
          <a:prstGeom prst="ellipse">
            <a:avLst/>
          </a:prstGeom>
          <a:solidFill>
            <a:srgbClr val="028090"/>
          </a:solidFill>
          <a:ln/>
        </p:spPr>
        <p:txBody>
          <a:bodyPr/>
          <a:lstStyle/>
          <a:p>
            <a:endParaRPr lang="en-KE"/>
          </a:p>
        </p:txBody>
      </p:sp>
      <p:sp>
        <p:nvSpPr>
          <p:cNvPr id="30" name="Text 28"/>
          <p:cNvSpPr/>
          <p:nvPr/>
        </p:nvSpPr>
        <p:spPr>
          <a:xfrm>
            <a:off x="6583680" y="4187952"/>
            <a:ext cx="329184" cy="32918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31" name="Text 29"/>
          <p:cNvSpPr/>
          <p:nvPr/>
        </p:nvSpPr>
        <p:spPr>
          <a:xfrm>
            <a:off x="7040880" y="4160520"/>
            <a:ext cx="4297680" cy="384048"/>
          </a:xfrm>
          <a:prstGeom prst="rect">
            <a:avLst/>
          </a:prstGeom>
          <a:noFill/>
          <a:ln/>
        </p:spPr>
        <p:txBody>
          <a:bodyPr wrap="square" rtlCol="0" anchor="ctr"/>
          <a:lstStyle/>
          <a:p>
            <a:pPr marL="0" indent="0">
              <a:buNone/>
            </a:pPr>
            <a:r>
              <a:rPr lang="en-US" sz="1350" dirty="0">
                <a:solidFill>
                  <a:srgbClr val="CADCFC"/>
                </a:solidFill>
                <a:latin typeface="Calibri" pitchFamily="34" charset="0"/>
                <a:ea typeface="Calibri" pitchFamily="34" charset="-122"/>
                <a:cs typeface="Calibri" pitchFamily="34" charset="-120"/>
              </a:rPr>
              <a:t>Log Integrity Verification</a:t>
            </a:r>
            <a:endParaRPr lang="en-US" sz="1350" dirty="0"/>
          </a:p>
        </p:txBody>
      </p:sp>
      <p:sp>
        <p:nvSpPr>
          <p:cNvPr id="32" name="Shape 30"/>
          <p:cNvSpPr/>
          <p:nvPr/>
        </p:nvSpPr>
        <p:spPr>
          <a:xfrm>
            <a:off x="6583680" y="4791456"/>
            <a:ext cx="329184" cy="329184"/>
          </a:xfrm>
          <a:prstGeom prst="ellipse">
            <a:avLst/>
          </a:prstGeom>
          <a:solidFill>
            <a:srgbClr val="028090"/>
          </a:solidFill>
          <a:ln/>
        </p:spPr>
        <p:txBody>
          <a:bodyPr/>
          <a:lstStyle/>
          <a:p>
            <a:endParaRPr lang="en-KE"/>
          </a:p>
        </p:txBody>
      </p:sp>
      <p:sp>
        <p:nvSpPr>
          <p:cNvPr id="33" name="Text 31"/>
          <p:cNvSpPr/>
          <p:nvPr/>
        </p:nvSpPr>
        <p:spPr>
          <a:xfrm>
            <a:off x="6583680" y="4791456"/>
            <a:ext cx="329184" cy="32918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34" name="Text 32"/>
          <p:cNvSpPr/>
          <p:nvPr/>
        </p:nvSpPr>
        <p:spPr>
          <a:xfrm>
            <a:off x="7040880" y="4764024"/>
            <a:ext cx="4297680" cy="384048"/>
          </a:xfrm>
          <a:prstGeom prst="rect">
            <a:avLst/>
          </a:prstGeom>
          <a:noFill/>
          <a:ln/>
        </p:spPr>
        <p:txBody>
          <a:bodyPr wrap="square" rtlCol="0" anchor="ctr"/>
          <a:lstStyle/>
          <a:p>
            <a:pPr marL="0" indent="0">
              <a:buNone/>
            </a:pPr>
            <a:r>
              <a:rPr lang="en-US" sz="1350" dirty="0">
                <a:solidFill>
                  <a:srgbClr val="CADCFC"/>
                </a:solidFill>
                <a:latin typeface="Calibri" pitchFamily="34" charset="0"/>
                <a:ea typeface="Calibri" pitchFamily="34" charset="-122"/>
                <a:cs typeface="Calibri" pitchFamily="34" charset="-120"/>
              </a:rPr>
              <a:t>Automated Backups</a:t>
            </a:r>
            <a:endParaRPr lang="en-US" sz="1350" dirty="0"/>
          </a:p>
        </p:txBody>
      </p:sp>
      <p:sp>
        <p:nvSpPr>
          <p:cNvPr id="35" name="Text 33"/>
          <p:cNvSpPr/>
          <p:nvPr/>
        </p:nvSpPr>
        <p:spPr>
          <a:xfrm>
            <a:off x="548640" y="6528816"/>
            <a:ext cx="7315200" cy="256032"/>
          </a:xfrm>
          <a:prstGeom prst="rect">
            <a:avLst/>
          </a:prstGeom>
          <a:noFill/>
          <a:ln/>
        </p:spPr>
        <p:txBody>
          <a:bodyPr wrap="square" rtlCol="0" anchor="ctr"/>
          <a:lstStyle/>
          <a:p>
            <a:pPr marL="0" indent="0">
              <a:buNone/>
            </a:pPr>
            <a:r>
              <a:rPr lang="en-US" sz="950" dirty="0">
                <a:solidFill>
                  <a:srgbClr val="9AA6C9"/>
                </a:solidFill>
                <a:latin typeface="Calibri" pitchFamily="34" charset="0"/>
                <a:ea typeface="Calibri" pitchFamily="34" charset="-122"/>
                <a:cs typeface="Calibri" pitchFamily="34" charset="-120"/>
              </a:rPr>
              <a:t>Centralized Log Monitoring System  |  Group 6</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92608"/>
          </a:xfrm>
          <a:prstGeom prst="rect">
            <a:avLst/>
          </a:prstGeom>
          <a:noFill/>
          <a:ln/>
        </p:spPr>
        <p:txBody>
          <a:bodyPr wrap="square"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MONITORING</a:t>
            </a:r>
            <a:endParaRPr lang="en-US" sz="1300" dirty="0"/>
          </a:p>
        </p:txBody>
      </p:sp>
      <p:sp>
        <p:nvSpPr>
          <p:cNvPr id="3" name="Text 1"/>
          <p:cNvSpPr/>
          <p:nvPr/>
        </p:nvSpPr>
        <p:spPr>
          <a:xfrm>
            <a:off x="548640" y="566928"/>
            <a:ext cx="10789920" cy="658368"/>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OpenSearch Dashboards</a:t>
            </a:r>
            <a:endParaRPr lang="en-US" sz="3000" dirty="0"/>
          </a:p>
        </p:txBody>
      </p:sp>
      <p:sp>
        <p:nvSpPr>
          <p:cNvPr id="4" name="Shape 2"/>
          <p:cNvSpPr/>
          <p:nvPr/>
        </p:nvSpPr>
        <p:spPr>
          <a:xfrm>
            <a:off x="548640" y="1572768"/>
            <a:ext cx="2606040" cy="457200"/>
          </a:xfrm>
          <a:prstGeom prst="roundRect">
            <a:avLst>
              <a:gd name="adj" fmla="val 50000"/>
            </a:avLst>
          </a:prstGeom>
          <a:solidFill>
            <a:srgbClr val="FFFFFF"/>
          </a:solidFill>
          <a:ln w="12700">
            <a:solidFill>
              <a:srgbClr val="028090"/>
            </a:solidFill>
            <a:prstDash val="solid"/>
          </a:ln>
        </p:spPr>
        <p:txBody>
          <a:bodyPr/>
          <a:lstStyle/>
          <a:p>
            <a:endParaRPr lang="en-KE"/>
          </a:p>
        </p:txBody>
      </p:sp>
      <p:sp>
        <p:nvSpPr>
          <p:cNvPr id="5" name="Text 3"/>
          <p:cNvSpPr/>
          <p:nvPr/>
        </p:nvSpPr>
        <p:spPr>
          <a:xfrm>
            <a:off x="548640" y="1572768"/>
            <a:ext cx="2606040" cy="457200"/>
          </a:xfrm>
          <a:prstGeom prst="rect">
            <a:avLst/>
          </a:prstGeom>
          <a:noFill/>
          <a:ln/>
        </p:spPr>
        <p:txBody>
          <a:bodyPr wrap="square" rtlCol="0" anchor="ctr"/>
          <a:lstStyle/>
          <a:p>
            <a:pPr marL="0" indent="0" algn="ctr">
              <a:buNone/>
            </a:pPr>
            <a:r>
              <a:rPr lang="en-US" sz="1150" b="1" dirty="0">
                <a:solidFill>
                  <a:srgbClr val="028090"/>
                </a:solidFill>
                <a:latin typeface="Calibri" pitchFamily="34" charset="0"/>
                <a:ea typeface="Calibri" pitchFamily="34" charset="-122"/>
                <a:cs typeface="Calibri" pitchFamily="34" charset="-120"/>
              </a:rPr>
              <a:t>Log Visualization</a:t>
            </a:r>
            <a:endParaRPr lang="en-US" sz="1150" dirty="0"/>
          </a:p>
        </p:txBody>
      </p:sp>
      <p:sp>
        <p:nvSpPr>
          <p:cNvPr id="6" name="Shape 4"/>
          <p:cNvSpPr/>
          <p:nvPr/>
        </p:nvSpPr>
        <p:spPr>
          <a:xfrm>
            <a:off x="3291840" y="1572768"/>
            <a:ext cx="2606040" cy="457200"/>
          </a:xfrm>
          <a:prstGeom prst="roundRect">
            <a:avLst>
              <a:gd name="adj" fmla="val 50000"/>
            </a:avLst>
          </a:prstGeom>
          <a:solidFill>
            <a:srgbClr val="FFFFFF"/>
          </a:solidFill>
          <a:ln w="12700">
            <a:solidFill>
              <a:srgbClr val="028090"/>
            </a:solidFill>
            <a:prstDash val="solid"/>
          </a:ln>
        </p:spPr>
        <p:txBody>
          <a:bodyPr/>
          <a:lstStyle/>
          <a:p>
            <a:endParaRPr lang="en-KE"/>
          </a:p>
        </p:txBody>
      </p:sp>
      <p:sp>
        <p:nvSpPr>
          <p:cNvPr id="7" name="Text 5"/>
          <p:cNvSpPr/>
          <p:nvPr/>
        </p:nvSpPr>
        <p:spPr>
          <a:xfrm>
            <a:off x="3291840" y="1572768"/>
            <a:ext cx="2606040" cy="457200"/>
          </a:xfrm>
          <a:prstGeom prst="rect">
            <a:avLst/>
          </a:prstGeom>
          <a:noFill/>
          <a:ln/>
        </p:spPr>
        <p:txBody>
          <a:bodyPr wrap="square" rtlCol="0" anchor="ctr"/>
          <a:lstStyle/>
          <a:p>
            <a:pPr marL="0" indent="0" algn="ctr">
              <a:buNone/>
            </a:pPr>
            <a:r>
              <a:rPr lang="en-US" sz="1150" b="1" dirty="0">
                <a:solidFill>
                  <a:srgbClr val="028090"/>
                </a:solidFill>
                <a:latin typeface="Calibri" pitchFamily="34" charset="0"/>
                <a:ea typeface="Calibri" pitchFamily="34" charset="-122"/>
                <a:cs typeface="Calibri" pitchFamily="34" charset="-120"/>
              </a:rPr>
              <a:t>Search &amp; Filtering</a:t>
            </a:r>
            <a:endParaRPr lang="en-US" sz="1150" dirty="0"/>
          </a:p>
        </p:txBody>
      </p:sp>
      <p:sp>
        <p:nvSpPr>
          <p:cNvPr id="8" name="Shape 6"/>
          <p:cNvSpPr/>
          <p:nvPr/>
        </p:nvSpPr>
        <p:spPr>
          <a:xfrm>
            <a:off x="6035040" y="1572768"/>
            <a:ext cx="2606040" cy="457200"/>
          </a:xfrm>
          <a:prstGeom prst="roundRect">
            <a:avLst>
              <a:gd name="adj" fmla="val 50000"/>
            </a:avLst>
          </a:prstGeom>
          <a:solidFill>
            <a:srgbClr val="FFFFFF"/>
          </a:solidFill>
          <a:ln w="12700">
            <a:solidFill>
              <a:srgbClr val="028090"/>
            </a:solidFill>
            <a:prstDash val="solid"/>
          </a:ln>
        </p:spPr>
        <p:txBody>
          <a:bodyPr/>
          <a:lstStyle/>
          <a:p>
            <a:endParaRPr lang="en-KE"/>
          </a:p>
        </p:txBody>
      </p:sp>
      <p:sp>
        <p:nvSpPr>
          <p:cNvPr id="9" name="Text 7"/>
          <p:cNvSpPr/>
          <p:nvPr/>
        </p:nvSpPr>
        <p:spPr>
          <a:xfrm>
            <a:off x="6035040" y="1572768"/>
            <a:ext cx="2606040" cy="457200"/>
          </a:xfrm>
          <a:prstGeom prst="rect">
            <a:avLst/>
          </a:prstGeom>
          <a:noFill/>
          <a:ln/>
        </p:spPr>
        <p:txBody>
          <a:bodyPr wrap="square" rtlCol="0" anchor="ctr"/>
          <a:lstStyle/>
          <a:p>
            <a:pPr marL="0" indent="0" algn="ctr">
              <a:buNone/>
            </a:pPr>
            <a:r>
              <a:rPr lang="en-US" sz="1150" b="1" dirty="0">
                <a:solidFill>
                  <a:srgbClr val="028090"/>
                </a:solidFill>
                <a:latin typeface="Calibri" pitchFamily="34" charset="0"/>
                <a:ea typeface="Calibri" pitchFamily="34" charset="-122"/>
                <a:cs typeface="Calibri" pitchFamily="34" charset="-120"/>
              </a:rPr>
              <a:t>Event Monitoring</a:t>
            </a:r>
            <a:endParaRPr lang="en-US" sz="1150" dirty="0"/>
          </a:p>
        </p:txBody>
      </p:sp>
      <p:sp>
        <p:nvSpPr>
          <p:cNvPr id="10" name="Shape 8"/>
          <p:cNvSpPr/>
          <p:nvPr/>
        </p:nvSpPr>
        <p:spPr>
          <a:xfrm>
            <a:off x="8778240" y="1572768"/>
            <a:ext cx="2606040" cy="457200"/>
          </a:xfrm>
          <a:prstGeom prst="roundRect">
            <a:avLst>
              <a:gd name="adj" fmla="val 50000"/>
            </a:avLst>
          </a:prstGeom>
          <a:solidFill>
            <a:srgbClr val="FFFFFF"/>
          </a:solidFill>
          <a:ln w="12700">
            <a:solidFill>
              <a:srgbClr val="028090"/>
            </a:solidFill>
            <a:prstDash val="solid"/>
          </a:ln>
        </p:spPr>
        <p:txBody>
          <a:bodyPr/>
          <a:lstStyle/>
          <a:p>
            <a:endParaRPr lang="en-KE"/>
          </a:p>
        </p:txBody>
      </p:sp>
      <p:sp>
        <p:nvSpPr>
          <p:cNvPr id="11" name="Text 9"/>
          <p:cNvSpPr/>
          <p:nvPr/>
        </p:nvSpPr>
        <p:spPr>
          <a:xfrm>
            <a:off x="8778240" y="1572768"/>
            <a:ext cx="2606040" cy="457200"/>
          </a:xfrm>
          <a:prstGeom prst="rect">
            <a:avLst/>
          </a:prstGeom>
          <a:noFill/>
          <a:ln/>
        </p:spPr>
        <p:txBody>
          <a:bodyPr wrap="square" rtlCol="0" anchor="ctr"/>
          <a:lstStyle/>
          <a:p>
            <a:pPr marL="0" indent="0" algn="ctr">
              <a:buNone/>
            </a:pPr>
            <a:r>
              <a:rPr lang="en-US" sz="1150" b="1" dirty="0">
                <a:solidFill>
                  <a:srgbClr val="028090"/>
                </a:solidFill>
                <a:latin typeface="Calibri" pitchFamily="34" charset="0"/>
                <a:ea typeface="Calibri" pitchFamily="34" charset="-122"/>
                <a:cs typeface="Calibri" pitchFamily="34" charset="-120"/>
              </a:rPr>
              <a:t>Real-Time Analysis</a:t>
            </a:r>
            <a:endParaRPr lang="en-US" sz="1150" dirty="0"/>
          </a:p>
        </p:txBody>
      </p:sp>
      <p:sp>
        <p:nvSpPr>
          <p:cNvPr id="12" name="Shape 10"/>
          <p:cNvSpPr/>
          <p:nvPr/>
        </p:nvSpPr>
        <p:spPr>
          <a:xfrm>
            <a:off x="493776" y="2276856"/>
            <a:ext cx="5550408" cy="3675888"/>
          </a:xfrm>
          <a:prstGeom prst="roundRect">
            <a:avLst>
              <a:gd name="adj" fmla="val 1990"/>
            </a:avLst>
          </a:prstGeom>
          <a:solidFill>
            <a:srgbClr val="FFFFFF"/>
          </a:solidFill>
          <a:ln w="12700">
            <a:solidFill>
              <a:srgbClr val="E2E8F0"/>
            </a:solidFill>
            <a:prstDash val="solid"/>
          </a:ln>
          <a:effectLst>
            <a:outerShdw blurRad="101600" dist="38100" dir="5400000" algn="bl" rotWithShape="0">
              <a:srgbClr val="1E2761">
                <a:alpha val="18000"/>
              </a:srgbClr>
            </a:outerShdw>
          </a:effectLst>
        </p:spPr>
        <p:txBody>
          <a:bodyPr/>
          <a:lstStyle/>
          <a:p>
            <a:endParaRPr lang="en-KE"/>
          </a:p>
        </p:txBody>
      </p:sp>
      <p:pic>
        <p:nvPicPr>
          <p:cNvPr id="13" name="Image 0" descr="media/Screenshot_2026-07-20_143331.png"/>
          <p:cNvPicPr>
            <a:picLocks noChangeAspect="1"/>
          </p:cNvPicPr>
          <p:nvPr/>
        </p:nvPicPr>
        <p:blipFill>
          <a:blip r:embed="rId3"/>
          <a:srcRect/>
          <a:stretch/>
        </p:blipFill>
        <p:spPr>
          <a:xfrm>
            <a:off x="548640" y="2331720"/>
            <a:ext cx="5440680" cy="3566160"/>
          </a:xfrm>
          <a:prstGeom prst="rect">
            <a:avLst/>
          </a:prstGeom>
        </p:spPr>
      </p:pic>
      <p:sp>
        <p:nvSpPr>
          <p:cNvPr id="14" name="Text 11"/>
          <p:cNvSpPr/>
          <p:nvPr/>
        </p:nvSpPr>
        <p:spPr>
          <a:xfrm>
            <a:off x="493776" y="5980176"/>
            <a:ext cx="5550408" cy="292608"/>
          </a:xfrm>
          <a:prstGeom prst="rect">
            <a:avLst/>
          </a:prstGeom>
          <a:noFill/>
          <a:ln/>
        </p:spPr>
        <p:txBody>
          <a:bodyPr wrap="square" rtlCol="0" anchor="ctr"/>
          <a:lstStyle/>
          <a:p>
            <a:pPr marL="0" indent="0" algn="ctr">
              <a:buNone/>
            </a:pPr>
            <a:r>
              <a:rPr lang="en-US" sz="1100" i="1" dirty="0">
                <a:solidFill>
                  <a:srgbClr val="5B6472"/>
                </a:solidFill>
                <a:latin typeface="Calibri" pitchFamily="34" charset="0"/>
                <a:ea typeface="Calibri" pitchFamily="34" charset="-122"/>
                <a:cs typeface="Calibri" pitchFamily="34" charset="-120"/>
              </a:rPr>
              <a:t>Discover view — indexed logs searchable in real time</a:t>
            </a:r>
            <a:endParaRPr lang="en-US" sz="1100" dirty="0"/>
          </a:p>
        </p:txBody>
      </p:sp>
      <p:sp>
        <p:nvSpPr>
          <p:cNvPr id="15" name="Shape 12"/>
          <p:cNvSpPr/>
          <p:nvPr/>
        </p:nvSpPr>
        <p:spPr>
          <a:xfrm>
            <a:off x="6117336" y="2276856"/>
            <a:ext cx="5550408" cy="3675888"/>
          </a:xfrm>
          <a:prstGeom prst="roundRect">
            <a:avLst>
              <a:gd name="adj" fmla="val 1990"/>
            </a:avLst>
          </a:prstGeom>
          <a:solidFill>
            <a:srgbClr val="FFFFFF"/>
          </a:solidFill>
          <a:ln w="12700">
            <a:solidFill>
              <a:srgbClr val="E2E8F0"/>
            </a:solidFill>
            <a:prstDash val="solid"/>
          </a:ln>
          <a:effectLst>
            <a:outerShdw blurRad="101600" dist="38100" dir="5400000" algn="bl" rotWithShape="0">
              <a:srgbClr val="1E2761">
                <a:alpha val="18000"/>
              </a:srgbClr>
            </a:outerShdw>
          </a:effectLst>
        </p:spPr>
        <p:txBody>
          <a:bodyPr/>
          <a:lstStyle/>
          <a:p>
            <a:endParaRPr lang="en-KE"/>
          </a:p>
        </p:txBody>
      </p:sp>
      <p:pic>
        <p:nvPicPr>
          <p:cNvPr id="16" name="Image 1" descr="media/Screenshot_2026-07-20_143913.png"/>
          <p:cNvPicPr>
            <a:picLocks noChangeAspect="1"/>
          </p:cNvPicPr>
          <p:nvPr/>
        </p:nvPicPr>
        <p:blipFill>
          <a:blip r:embed="rId4"/>
          <a:srcRect/>
          <a:stretch/>
        </p:blipFill>
        <p:spPr>
          <a:xfrm>
            <a:off x="6172200" y="2331720"/>
            <a:ext cx="5440680" cy="3566160"/>
          </a:xfrm>
          <a:prstGeom prst="rect">
            <a:avLst/>
          </a:prstGeom>
        </p:spPr>
      </p:pic>
      <p:sp>
        <p:nvSpPr>
          <p:cNvPr id="17" name="Text 13"/>
          <p:cNvSpPr/>
          <p:nvPr/>
        </p:nvSpPr>
        <p:spPr>
          <a:xfrm>
            <a:off x="6117336" y="5980176"/>
            <a:ext cx="5550408" cy="292608"/>
          </a:xfrm>
          <a:prstGeom prst="rect">
            <a:avLst/>
          </a:prstGeom>
          <a:noFill/>
          <a:ln/>
        </p:spPr>
        <p:txBody>
          <a:bodyPr wrap="square" rtlCol="0" anchor="ctr"/>
          <a:lstStyle/>
          <a:p>
            <a:pPr marL="0" indent="0" algn="ctr">
              <a:buNone/>
            </a:pPr>
            <a:r>
              <a:rPr lang="en-US" sz="1100" i="1" dirty="0">
                <a:solidFill>
                  <a:srgbClr val="5B6472"/>
                </a:solidFill>
                <a:latin typeface="Calibri" pitchFamily="34" charset="0"/>
                <a:ea typeface="Calibri" pitchFamily="34" charset="-122"/>
                <a:cs typeface="Calibri" pitchFamily="34" charset="-120"/>
              </a:rPr>
              <a:t>Visualization dashboard summarizing log activity</a:t>
            </a:r>
            <a:endParaRPr lang="en-US" sz="1100" dirty="0"/>
          </a:p>
        </p:txBody>
      </p:sp>
      <p:sp>
        <p:nvSpPr>
          <p:cNvPr id="18" name="Text 14"/>
          <p:cNvSpPr/>
          <p:nvPr/>
        </p:nvSpPr>
        <p:spPr>
          <a:xfrm>
            <a:off x="548640" y="6528816"/>
            <a:ext cx="7315200" cy="256032"/>
          </a:xfrm>
          <a:prstGeom prst="rect">
            <a:avLst/>
          </a:prstGeom>
          <a:noFill/>
          <a:ln/>
        </p:spPr>
        <p:txBody>
          <a:bodyPr wrap="square" rtlCol="0" anchor="ctr"/>
          <a:lstStyle/>
          <a:p>
            <a:pPr marL="0" indent="0">
              <a:buNone/>
            </a:pPr>
            <a:r>
              <a:rPr lang="en-US" sz="950" dirty="0">
                <a:solidFill>
                  <a:srgbClr val="9AA6C9"/>
                </a:solidFill>
                <a:latin typeface="Calibri" pitchFamily="34" charset="0"/>
                <a:ea typeface="Calibri" pitchFamily="34" charset="-122"/>
                <a:cs typeface="Calibri" pitchFamily="34" charset="-120"/>
              </a:rPr>
              <a:t>Centralized Log Monitoring System  |  Group 6</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92608"/>
          </a:xfrm>
          <a:prstGeom prst="rect">
            <a:avLst/>
          </a:prstGeom>
          <a:noFill/>
          <a:ln/>
        </p:spPr>
        <p:txBody>
          <a:bodyPr wrap="square"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MONITORING</a:t>
            </a:r>
            <a:endParaRPr lang="en-US" sz="1300" dirty="0"/>
          </a:p>
        </p:txBody>
      </p:sp>
      <p:sp>
        <p:nvSpPr>
          <p:cNvPr id="3" name="Text 1"/>
          <p:cNvSpPr/>
          <p:nvPr/>
        </p:nvSpPr>
        <p:spPr>
          <a:xfrm>
            <a:off x="548640" y="566928"/>
            <a:ext cx="10789920" cy="658368"/>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Attack Detection</a:t>
            </a:r>
            <a:endParaRPr lang="en-US" sz="3000" dirty="0"/>
          </a:p>
        </p:txBody>
      </p:sp>
      <p:sp>
        <p:nvSpPr>
          <p:cNvPr id="4" name="Shape 2"/>
          <p:cNvSpPr/>
          <p:nvPr/>
        </p:nvSpPr>
        <p:spPr>
          <a:xfrm>
            <a:off x="548640" y="1536192"/>
            <a:ext cx="10881360" cy="777240"/>
          </a:xfrm>
          <a:prstGeom prst="roundRect">
            <a:avLst>
              <a:gd name="adj" fmla="val 9412"/>
            </a:avLst>
          </a:prstGeom>
          <a:solidFill>
            <a:srgbClr val="1E2761"/>
          </a:solidFill>
          <a:ln/>
        </p:spPr>
        <p:txBody>
          <a:bodyPr/>
          <a:lstStyle/>
          <a:p>
            <a:endParaRPr lang="en-KE"/>
          </a:p>
        </p:txBody>
      </p:sp>
      <p:sp>
        <p:nvSpPr>
          <p:cNvPr id="5" name="Text 3"/>
          <p:cNvSpPr/>
          <p:nvPr/>
        </p:nvSpPr>
        <p:spPr>
          <a:xfrm>
            <a:off x="822960" y="1536192"/>
            <a:ext cx="10332720" cy="777240"/>
          </a:xfrm>
          <a:prstGeom prst="rect">
            <a:avLst/>
          </a:prstGeom>
          <a:noFill/>
          <a:ln/>
        </p:spPr>
        <p:txBody>
          <a:bodyPr wrap="square" rtlCol="0" anchor="ctr"/>
          <a:lstStyle/>
          <a:p>
            <a:pPr marL="0" indent="0">
              <a:buNone/>
            </a:pPr>
            <a:r>
              <a:rPr lang="en-US" sz="1300" b="1" dirty="0">
                <a:solidFill>
                  <a:srgbClr val="02C39A"/>
                </a:solidFill>
                <a:latin typeface="Calibri" pitchFamily="34" charset="0"/>
                <a:ea typeface="Calibri" pitchFamily="34" charset="-122"/>
                <a:cs typeface="Calibri" pitchFamily="34" charset="-120"/>
              </a:rPr>
              <a:t>Detected during testing:  </a:t>
            </a:r>
            <a:r>
              <a:rPr lang="en-US" sz="1300" dirty="0">
                <a:solidFill>
                  <a:srgbClr val="FFFFFF"/>
                </a:solidFill>
                <a:latin typeface="Calibri" pitchFamily="34" charset="0"/>
                <a:ea typeface="Calibri" pitchFamily="34" charset="-122"/>
                <a:cs typeface="Calibri" pitchFamily="34" charset="-120"/>
              </a:rPr>
              <a:t>Failed SSH login attempts • Invalid login credentials • Suspicious authentication activity • Application errors</a:t>
            </a:r>
            <a:endParaRPr lang="en-US" sz="1300" dirty="0"/>
          </a:p>
        </p:txBody>
      </p:sp>
      <p:sp>
        <p:nvSpPr>
          <p:cNvPr id="6" name="Shape 4"/>
          <p:cNvSpPr/>
          <p:nvPr/>
        </p:nvSpPr>
        <p:spPr>
          <a:xfrm>
            <a:off x="493776" y="2551176"/>
            <a:ext cx="5550408" cy="3447288"/>
          </a:xfrm>
          <a:prstGeom prst="roundRect">
            <a:avLst>
              <a:gd name="adj" fmla="val 2122"/>
            </a:avLst>
          </a:prstGeom>
          <a:solidFill>
            <a:srgbClr val="FFFFFF"/>
          </a:solidFill>
          <a:ln w="12700">
            <a:solidFill>
              <a:srgbClr val="E2E8F0"/>
            </a:solidFill>
            <a:prstDash val="solid"/>
          </a:ln>
          <a:effectLst>
            <a:outerShdw blurRad="101600" dist="38100" dir="5400000" algn="bl" rotWithShape="0">
              <a:srgbClr val="1E2761">
                <a:alpha val="18000"/>
              </a:srgbClr>
            </a:outerShdw>
          </a:effectLst>
        </p:spPr>
        <p:txBody>
          <a:bodyPr/>
          <a:lstStyle/>
          <a:p>
            <a:endParaRPr lang="en-KE"/>
          </a:p>
        </p:txBody>
      </p:sp>
      <p:pic>
        <p:nvPicPr>
          <p:cNvPr id="7" name="Image 0" descr="media/Screenshot_2026-07-20_145656.png"/>
          <p:cNvPicPr>
            <a:picLocks noChangeAspect="1"/>
          </p:cNvPicPr>
          <p:nvPr/>
        </p:nvPicPr>
        <p:blipFill>
          <a:blip r:embed="rId3"/>
          <a:srcRect/>
          <a:stretch/>
        </p:blipFill>
        <p:spPr>
          <a:xfrm>
            <a:off x="548640" y="2606040"/>
            <a:ext cx="5440680" cy="3337560"/>
          </a:xfrm>
          <a:prstGeom prst="rect">
            <a:avLst/>
          </a:prstGeom>
        </p:spPr>
      </p:pic>
      <p:sp>
        <p:nvSpPr>
          <p:cNvPr id="8" name="Text 5"/>
          <p:cNvSpPr/>
          <p:nvPr/>
        </p:nvSpPr>
        <p:spPr>
          <a:xfrm>
            <a:off x="493776" y="6025896"/>
            <a:ext cx="5550408" cy="292608"/>
          </a:xfrm>
          <a:prstGeom prst="rect">
            <a:avLst/>
          </a:prstGeom>
          <a:noFill/>
          <a:ln/>
        </p:spPr>
        <p:txBody>
          <a:bodyPr wrap="square" rtlCol="0" anchor="ctr"/>
          <a:lstStyle/>
          <a:p>
            <a:pPr marL="0" indent="0" algn="ctr">
              <a:buNone/>
            </a:pPr>
            <a:r>
              <a:rPr lang="en-US" sz="1100" i="1" dirty="0">
                <a:solidFill>
                  <a:srgbClr val="5B6472"/>
                </a:solidFill>
                <a:latin typeface="Calibri" pitchFamily="34" charset="0"/>
                <a:ea typeface="Calibri" pitchFamily="34" charset="-122"/>
                <a:cs typeface="Calibri" pitchFamily="34" charset="-120"/>
              </a:rPr>
              <a:t>Real-time monitoring dashboard</a:t>
            </a:r>
            <a:endParaRPr lang="en-US" sz="1100" dirty="0"/>
          </a:p>
        </p:txBody>
      </p:sp>
      <p:sp>
        <p:nvSpPr>
          <p:cNvPr id="9" name="Shape 6"/>
          <p:cNvSpPr/>
          <p:nvPr/>
        </p:nvSpPr>
        <p:spPr>
          <a:xfrm>
            <a:off x="6117336" y="2551176"/>
            <a:ext cx="5550408" cy="3447288"/>
          </a:xfrm>
          <a:prstGeom prst="roundRect">
            <a:avLst>
              <a:gd name="adj" fmla="val 2122"/>
            </a:avLst>
          </a:prstGeom>
          <a:solidFill>
            <a:srgbClr val="FFFFFF"/>
          </a:solidFill>
          <a:ln w="12700">
            <a:solidFill>
              <a:srgbClr val="E2E8F0"/>
            </a:solidFill>
            <a:prstDash val="solid"/>
          </a:ln>
          <a:effectLst>
            <a:outerShdw blurRad="101600" dist="38100" dir="5400000" algn="bl" rotWithShape="0">
              <a:srgbClr val="1E2761">
                <a:alpha val="18000"/>
              </a:srgbClr>
            </a:outerShdw>
          </a:effectLst>
        </p:spPr>
        <p:txBody>
          <a:bodyPr/>
          <a:lstStyle/>
          <a:p>
            <a:endParaRPr lang="en-KE"/>
          </a:p>
        </p:txBody>
      </p:sp>
      <p:pic>
        <p:nvPicPr>
          <p:cNvPr id="10" name="Image 1" descr="media/Screenshot_2026-07-20_145750.png"/>
          <p:cNvPicPr>
            <a:picLocks noChangeAspect="1"/>
          </p:cNvPicPr>
          <p:nvPr/>
        </p:nvPicPr>
        <p:blipFill>
          <a:blip r:embed="rId4"/>
          <a:srcRect/>
          <a:stretch/>
        </p:blipFill>
        <p:spPr>
          <a:xfrm>
            <a:off x="6172200" y="2606040"/>
            <a:ext cx="5440680" cy="3337560"/>
          </a:xfrm>
          <a:prstGeom prst="rect">
            <a:avLst/>
          </a:prstGeom>
        </p:spPr>
      </p:pic>
      <p:sp>
        <p:nvSpPr>
          <p:cNvPr id="11" name="Text 7"/>
          <p:cNvSpPr/>
          <p:nvPr/>
        </p:nvSpPr>
        <p:spPr>
          <a:xfrm>
            <a:off x="6117336" y="6025896"/>
            <a:ext cx="5550408" cy="292608"/>
          </a:xfrm>
          <a:prstGeom prst="rect">
            <a:avLst/>
          </a:prstGeom>
          <a:noFill/>
          <a:ln/>
        </p:spPr>
        <p:txBody>
          <a:bodyPr wrap="square" rtlCol="0" anchor="ctr"/>
          <a:lstStyle/>
          <a:p>
            <a:pPr marL="0" indent="0" algn="ctr">
              <a:buNone/>
            </a:pPr>
            <a:r>
              <a:rPr lang="en-US" sz="1100" i="1" dirty="0">
                <a:solidFill>
                  <a:srgbClr val="5B6472"/>
                </a:solidFill>
                <a:latin typeface="Calibri" pitchFamily="34" charset="0"/>
                <a:ea typeface="Calibri" pitchFamily="34" charset="-122"/>
                <a:cs typeface="Calibri" pitchFamily="34" charset="-120"/>
              </a:rPr>
              <a:t>Failed login attempts surfaced via search &amp; filtering</a:t>
            </a:r>
            <a:endParaRPr lang="en-US" sz="1100" dirty="0"/>
          </a:p>
        </p:txBody>
      </p:sp>
      <p:sp>
        <p:nvSpPr>
          <p:cNvPr id="12" name="Text 8"/>
          <p:cNvSpPr/>
          <p:nvPr/>
        </p:nvSpPr>
        <p:spPr>
          <a:xfrm>
            <a:off x="548640" y="6528816"/>
            <a:ext cx="7315200" cy="256032"/>
          </a:xfrm>
          <a:prstGeom prst="rect">
            <a:avLst/>
          </a:prstGeom>
          <a:noFill/>
          <a:ln/>
        </p:spPr>
        <p:txBody>
          <a:bodyPr wrap="square" rtlCol="0" anchor="ctr"/>
          <a:lstStyle/>
          <a:p>
            <a:pPr marL="0" indent="0">
              <a:buNone/>
            </a:pPr>
            <a:r>
              <a:rPr lang="en-US" sz="950" dirty="0">
                <a:solidFill>
                  <a:srgbClr val="9AA6C9"/>
                </a:solidFill>
                <a:latin typeface="Calibri" pitchFamily="34" charset="0"/>
                <a:ea typeface="Calibri" pitchFamily="34" charset="-122"/>
                <a:cs typeface="Calibri" pitchFamily="34" charset="-120"/>
              </a:rPr>
              <a:t>Centralized Log Monitoring System  |  Group 6</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92608"/>
          </a:xfrm>
          <a:prstGeom prst="rect">
            <a:avLst/>
          </a:prstGeom>
          <a:noFill/>
          <a:ln/>
        </p:spPr>
        <p:txBody>
          <a:bodyPr wrap="square"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PART D</a:t>
            </a:r>
            <a:endParaRPr lang="en-US" sz="1300" dirty="0"/>
          </a:p>
        </p:txBody>
      </p:sp>
      <p:sp>
        <p:nvSpPr>
          <p:cNvPr id="3" name="Text 1"/>
          <p:cNvSpPr/>
          <p:nvPr/>
        </p:nvSpPr>
        <p:spPr>
          <a:xfrm>
            <a:off x="548640" y="566928"/>
            <a:ext cx="10789920" cy="658368"/>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Security Testing</a:t>
            </a:r>
            <a:endParaRPr lang="en-US" sz="3000" dirty="0"/>
          </a:p>
        </p:txBody>
      </p:sp>
      <p:sp>
        <p:nvSpPr>
          <p:cNvPr id="4" name="Shape 2"/>
          <p:cNvSpPr/>
          <p:nvPr/>
        </p:nvSpPr>
        <p:spPr>
          <a:xfrm>
            <a:off x="548640" y="1554480"/>
            <a:ext cx="5349240" cy="4572000"/>
          </a:xfrm>
          <a:prstGeom prst="roundRect">
            <a:avLst>
              <a:gd name="adj" fmla="val 1800"/>
            </a:avLst>
          </a:prstGeom>
          <a:solidFill>
            <a:srgbClr val="FFFFFF"/>
          </a:solidFill>
          <a:ln w="12700">
            <a:solidFill>
              <a:srgbClr val="E2E8F0"/>
            </a:solidFill>
            <a:prstDash val="solid"/>
          </a:ln>
        </p:spPr>
        <p:txBody>
          <a:bodyPr/>
          <a:lstStyle/>
          <a:p>
            <a:endParaRPr lang="en-KE"/>
          </a:p>
        </p:txBody>
      </p:sp>
      <p:sp>
        <p:nvSpPr>
          <p:cNvPr id="5" name="Text 3"/>
          <p:cNvSpPr/>
          <p:nvPr/>
        </p:nvSpPr>
        <p:spPr>
          <a:xfrm>
            <a:off x="868680" y="1737360"/>
            <a:ext cx="4572000" cy="320040"/>
          </a:xfrm>
          <a:prstGeom prst="rect">
            <a:avLst/>
          </a:prstGeom>
          <a:noFill/>
          <a:ln/>
        </p:spPr>
        <p:txBody>
          <a:bodyPr wrap="square"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Tests Performed</a:t>
            </a:r>
            <a:endParaRPr lang="en-US" sz="1600" dirty="0"/>
          </a:p>
        </p:txBody>
      </p:sp>
      <p:sp>
        <p:nvSpPr>
          <p:cNvPr id="6" name="Text 4"/>
          <p:cNvSpPr/>
          <p:nvPr/>
        </p:nvSpPr>
        <p:spPr>
          <a:xfrm>
            <a:off x="868680" y="2194560"/>
            <a:ext cx="3291840" cy="457200"/>
          </a:xfrm>
          <a:prstGeom prst="rect">
            <a:avLst/>
          </a:prstGeom>
          <a:noFill/>
          <a:ln/>
        </p:spPr>
        <p:txBody>
          <a:bodyPr wrap="square" rtlCol="0" anchor="ctr"/>
          <a:lstStyle/>
          <a:p>
            <a:pPr marL="0" indent="0">
              <a:buNone/>
            </a:pPr>
            <a:r>
              <a:rPr lang="en-US" sz="1300" dirty="0">
                <a:solidFill>
                  <a:srgbClr val="1A1A2E"/>
                </a:solidFill>
                <a:latin typeface="Calibri" pitchFamily="34" charset="0"/>
                <a:ea typeface="Calibri" pitchFamily="34" charset="-122"/>
                <a:cs typeface="Calibri" pitchFamily="34" charset="-120"/>
              </a:rPr>
              <a:t>Log Collection</a:t>
            </a:r>
            <a:endParaRPr lang="en-US" sz="1300" dirty="0"/>
          </a:p>
        </p:txBody>
      </p:sp>
      <p:sp>
        <p:nvSpPr>
          <p:cNvPr id="7" name="Shape 5"/>
          <p:cNvSpPr/>
          <p:nvPr/>
        </p:nvSpPr>
        <p:spPr>
          <a:xfrm>
            <a:off x="4343400" y="2249424"/>
            <a:ext cx="1371600" cy="347472"/>
          </a:xfrm>
          <a:prstGeom prst="roundRect">
            <a:avLst>
              <a:gd name="adj" fmla="val 50000"/>
            </a:avLst>
          </a:prstGeom>
          <a:solidFill>
            <a:srgbClr val="02C39A"/>
          </a:solidFill>
          <a:ln/>
        </p:spPr>
        <p:txBody>
          <a:bodyPr/>
          <a:lstStyle/>
          <a:p>
            <a:endParaRPr lang="en-KE"/>
          </a:p>
        </p:txBody>
      </p:sp>
      <p:sp>
        <p:nvSpPr>
          <p:cNvPr id="8" name="Text 6"/>
          <p:cNvSpPr/>
          <p:nvPr/>
        </p:nvSpPr>
        <p:spPr>
          <a:xfrm>
            <a:off x="4343400" y="2249424"/>
            <a:ext cx="1371600" cy="347472"/>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Passed</a:t>
            </a:r>
            <a:endParaRPr lang="en-US" sz="1050" dirty="0"/>
          </a:p>
        </p:txBody>
      </p:sp>
      <p:sp>
        <p:nvSpPr>
          <p:cNvPr id="9" name="Text 7"/>
          <p:cNvSpPr/>
          <p:nvPr/>
        </p:nvSpPr>
        <p:spPr>
          <a:xfrm>
            <a:off x="868680" y="2816352"/>
            <a:ext cx="3291840" cy="457200"/>
          </a:xfrm>
          <a:prstGeom prst="rect">
            <a:avLst/>
          </a:prstGeom>
          <a:noFill/>
          <a:ln/>
        </p:spPr>
        <p:txBody>
          <a:bodyPr wrap="square" rtlCol="0" anchor="ctr"/>
          <a:lstStyle/>
          <a:p>
            <a:pPr marL="0" indent="0">
              <a:buNone/>
            </a:pPr>
            <a:r>
              <a:rPr lang="en-US" sz="1300" dirty="0">
                <a:solidFill>
                  <a:srgbClr val="1A1A2E"/>
                </a:solidFill>
                <a:latin typeface="Calibri" pitchFamily="34" charset="0"/>
                <a:ea typeface="Calibri" pitchFamily="34" charset="-122"/>
                <a:cs typeface="Calibri" pitchFamily="34" charset="-120"/>
              </a:rPr>
              <a:t>Log Ingestion</a:t>
            </a:r>
            <a:endParaRPr lang="en-US" sz="1300" dirty="0"/>
          </a:p>
        </p:txBody>
      </p:sp>
      <p:sp>
        <p:nvSpPr>
          <p:cNvPr id="10" name="Shape 8"/>
          <p:cNvSpPr/>
          <p:nvPr/>
        </p:nvSpPr>
        <p:spPr>
          <a:xfrm>
            <a:off x="4343400" y="2871216"/>
            <a:ext cx="1371600" cy="347472"/>
          </a:xfrm>
          <a:prstGeom prst="roundRect">
            <a:avLst>
              <a:gd name="adj" fmla="val 50000"/>
            </a:avLst>
          </a:prstGeom>
          <a:solidFill>
            <a:srgbClr val="02C39A"/>
          </a:solidFill>
          <a:ln/>
        </p:spPr>
        <p:txBody>
          <a:bodyPr/>
          <a:lstStyle/>
          <a:p>
            <a:endParaRPr lang="en-KE"/>
          </a:p>
        </p:txBody>
      </p:sp>
      <p:sp>
        <p:nvSpPr>
          <p:cNvPr id="11" name="Text 9"/>
          <p:cNvSpPr/>
          <p:nvPr/>
        </p:nvSpPr>
        <p:spPr>
          <a:xfrm>
            <a:off x="4343400" y="2871216"/>
            <a:ext cx="1371600" cy="347472"/>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Passed</a:t>
            </a:r>
            <a:endParaRPr lang="en-US" sz="1050" dirty="0"/>
          </a:p>
        </p:txBody>
      </p:sp>
      <p:sp>
        <p:nvSpPr>
          <p:cNvPr id="12" name="Text 10"/>
          <p:cNvSpPr/>
          <p:nvPr/>
        </p:nvSpPr>
        <p:spPr>
          <a:xfrm>
            <a:off x="868680" y="3438144"/>
            <a:ext cx="3291840" cy="457200"/>
          </a:xfrm>
          <a:prstGeom prst="rect">
            <a:avLst/>
          </a:prstGeom>
          <a:noFill/>
          <a:ln/>
        </p:spPr>
        <p:txBody>
          <a:bodyPr wrap="square" rtlCol="0" anchor="ctr"/>
          <a:lstStyle/>
          <a:p>
            <a:pPr marL="0" indent="0">
              <a:buNone/>
            </a:pPr>
            <a:r>
              <a:rPr lang="en-US" sz="1300" dirty="0">
                <a:solidFill>
                  <a:srgbClr val="1A1A2E"/>
                </a:solidFill>
                <a:latin typeface="Calibri" pitchFamily="34" charset="0"/>
                <a:ea typeface="Calibri" pitchFamily="34" charset="-122"/>
                <a:cs typeface="Calibri" pitchFamily="34" charset="-120"/>
              </a:rPr>
              <a:t>Dashboard Visualization</a:t>
            </a:r>
            <a:endParaRPr lang="en-US" sz="1300" dirty="0"/>
          </a:p>
        </p:txBody>
      </p:sp>
      <p:sp>
        <p:nvSpPr>
          <p:cNvPr id="13" name="Shape 11"/>
          <p:cNvSpPr/>
          <p:nvPr/>
        </p:nvSpPr>
        <p:spPr>
          <a:xfrm>
            <a:off x="4343400" y="3493008"/>
            <a:ext cx="1371600" cy="347472"/>
          </a:xfrm>
          <a:prstGeom prst="roundRect">
            <a:avLst>
              <a:gd name="adj" fmla="val 50000"/>
            </a:avLst>
          </a:prstGeom>
          <a:solidFill>
            <a:srgbClr val="02C39A"/>
          </a:solidFill>
          <a:ln/>
        </p:spPr>
        <p:txBody>
          <a:bodyPr/>
          <a:lstStyle/>
          <a:p>
            <a:endParaRPr lang="en-KE"/>
          </a:p>
        </p:txBody>
      </p:sp>
      <p:sp>
        <p:nvSpPr>
          <p:cNvPr id="14" name="Text 12"/>
          <p:cNvSpPr/>
          <p:nvPr/>
        </p:nvSpPr>
        <p:spPr>
          <a:xfrm>
            <a:off x="4343400" y="3493008"/>
            <a:ext cx="1371600" cy="347472"/>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Passed</a:t>
            </a:r>
            <a:endParaRPr lang="en-US" sz="1050" dirty="0"/>
          </a:p>
        </p:txBody>
      </p:sp>
      <p:sp>
        <p:nvSpPr>
          <p:cNvPr id="15" name="Text 13"/>
          <p:cNvSpPr/>
          <p:nvPr/>
        </p:nvSpPr>
        <p:spPr>
          <a:xfrm>
            <a:off x="868680" y="4059936"/>
            <a:ext cx="3291840" cy="457200"/>
          </a:xfrm>
          <a:prstGeom prst="rect">
            <a:avLst/>
          </a:prstGeom>
          <a:noFill/>
          <a:ln/>
        </p:spPr>
        <p:txBody>
          <a:bodyPr wrap="square" rtlCol="0" anchor="ctr"/>
          <a:lstStyle/>
          <a:p>
            <a:pPr marL="0" indent="0">
              <a:buNone/>
            </a:pPr>
            <a:r>
              <a:rPr lang="en-US" sz="1300" dirty="0">
                <a:solidFill>
                  <a:srgbClr val="1A1A2E"/>
                </a:solidFill>
                <a:latin typeface="Calibri" pitchFamily="34" charset="0"/>
                <a:ea typeface="Calibri" pitchFamily="34" charset="-122"/>
                <a:cs typeface="Calibri" pitchFamily="34" charset="-120"/>
              </a:rPr>
              <a:t>Failed Login Detection</a:t>
            </a:r>
            <a:endParaRPr lang="en-US" sz="1300" dirty="0"/>
          </a:p>
        </p:txBody>
      </p:sp>
      <p:sp>
        <p:nvSpPr>
          <p:cNvPr id="16" name="Shape 14"/>
          <p:cNvSpPr/>
          <p:nvPr/>
        </p:nvSpPr>
        <p:spPr>
          <a:xfrm>
            <a:off x="4343400" y="4114800"/>
            <a:ext cx="1371600" cy="347472"/>
          </a:xfrm>
          <a:prstGeom prst="roundRect">
            <a:avLst>
              <a:gd name="adj" fmla="val 50000"/>
            </a:avLst>
          </a:prstGeom>
          <a:solidFill>
            <a:srgbClr val="02C39A"/>
          </a:solidFill>
          <a:ln/>
        </p:spPr>
        <p:txBody>
          <a:bodyPr/>
          <a:lstStyle/>
          <a:p>
            <a:endParaRPr lang="en-KE"/>
          </a:p>
        </p:txBody>
      </p:sp>
      <p:sp>
        <p:nvSpPr>
          <p:cNvPr id="17" name="Text 15"/>
          <p:cNvSpPr/>
          <p:nvPr/>
        </p:nvSpPr>
        <p:spPr>
          <a:xfrm>
            <a:off x="4343400" y="4114800"/>
            <a:ext cx="1371600" cy="347472"/>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Passed</a:t>
            </a:r>
            <a:endParaRPr lang="en-US" sz="1050" dirty="0"/>
          </a:p>
        </p:txBody>
      </p:sp>
      <p:sp>
        <p:nvSpPr>
          <p:cNvPr id="18" name="Text 16"/>
          <p:cNvSpPr/>
          <p:nvPr/>
        </p:nvSpPr>
        <p:spPr>
          <a:xfrm>
            <a:off x="868680" y="4681728"/>
            <a:ext cx="3291840" cy="457200"/>
          </a:xfrm>
          <a:prstGeom prst="rect">
            <a:avLst/>
          </a:prstGeom>
          <a:noFill/>
          <a:ln/>
        </p:spPr>
        <p:txBody>
          <a:bodyPr wrap="square" rtlCol="0" anchor="ctr"/>
          <a:lstStyle/>
          <a:p>
            <a:pPr marL="0" indent="0">
              <a:buNone/>
            </a:pPr>
            <a:r>
              <a:rPr lang="en-US" sz="1300" dirty="0">
                <a:solidFill>
                  <a:srgbClr val="1A1A2E"/>
                </a:solidFill>
                <a:latin typeface="Calibri" pitchFamily="34" charset="0"/>
                <a:ea typeface="Calibri" pitchFamily="34" charset="-122"/>
                <a:cs typeface="Calibri" pitchFamily="34" charset="-120"/>
              </a:rPr>
              <a:t>Search Functionality</a:t>
            </a:r>
            <a:endParaRPr lang="en-US" sz="1300" dirty="0"/>
          </a:p>
        </p:txBody>
      </p:sp>
      <p:sp>
        <p:nvSpPr>
          <p:cNvPr id="19" name="Shape 17"/>
          <p:cNvSpPr/>
          <p:nvPr/>
        </p:nvSpPr>
        <p:spPr>
          <a:xfrm>
            <a:off x="4343400" y="4736592"/>
            <a:ext cx="1371600" cy="347472"/>
          </a:xfrm>
          <a:prstGeom prst="roundRect">
            <a:avLst>
              <a:gd name="adj" fmla="val 50000"/>
            </a:avLst>
          </a:prstGeom>
          <a:solidFill>
            <a:srgbClr val="02C39A"/>
          </a:solidFill>
          <a:ln/>
        </p:spPr>
        <p:txBody>
          <a:bodyPr/>
          <a:lstStyle/>
          <a:p>
            <a:endParaRPr lang="en-KE"/>
          </a:p>
        </p:txBody>
      </p:sp>
      <p:sp>
        <p:nvSpPr>
          <p:cNvPr id="20" name="Text 18"/>
          <p:cNvSpPr/>
          <p:nvPr/>
        </p:nvSpPr>
        <p:spPr>
          <a:xfrm>
            <a:off x="4343400" y="4736592"/>
            <a:ext cx="1371600" cy="347472"/>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Passed</a:t>
            </a:r>
            <a:endParaRPr lang="en-US" sz="1050" dirty="0"/>
          </a:p>
        </p:txBody>
      </p:sp>
      <p:sp>
        <p:nvSpPr>
          <p:cNvPr id="21" name="Text 19"/>
          <p:cNvSpPr/>
          <p:nvPr/>
        </p:nvSpPr>
        <p:spPr>
          <a:xfrm>
            <a:off x="868680" y="5303520"/>
            <a:ext cx="3291840" cy="457200"/>
          </a:xfrm>
          <a:prstGeom prst="rect">
            <a:avLst/>
          </a:prstGeom>
          <a:noFill/>
          <a:ln/>
        </p:spPr>
        <p:txBody>
          <a:bodyPr wrap="square" rtlCol="0" anchor="ctr"/>
          <a:lstStyle/>
          <a:p>
            <a:pPr marL="0" indent="0">
              <a:buNone/>
            </a:pPr>
            <a:r>
              <a:rPr lang="en-US" sz="1300" dirty="0">
                <a:solidFill>
                  <a:srgbClr val="1A1A2E"/>
                </a:solidFill>
                <a:latin typeface="Calibri" pitchFamily="34" charset="0"/>
                <a:ea typeface="Calibri" pitchFamily="34" charset="-122"/>
                <a:cs typeface="Calibri" pitchFamily="34" charset="-120"/>
              </a:rPr>
              <a:t>OpenSearch Connectivity</a:t>
            </a:r>
            <a:endParaRPr lang="en-US" sz="1300" dirty="0"/>
          </a:p>
        </p:txBody>
      </p:sp>
      <p:sp>
        <p:nvSpPr>
          <p:cNvPr id="22" name="Shape 20"/>
          <p:cNvSpPr/>
          <p:nvPr/>
        </p:nvSpPr>
        <p:spPr>
          <a:xfrm>
            <a:off x="4343400" y="5358384"/>
            <a:ext cx="1371600" cy="347472"/>
          </a:xfrm>
          <a:prstGeom prst="roundRect">
            <a:avLst>
              <a:gd name="adj" fmla="val 50000"/>
            </a:avLst>
          </a:prstGeom>
          <a:solidFill>
            <a:srgbClr val="02C39A"/>
          </a:solidFill>
          <a:ln/>
        </p:spPr>
        <p:txBody>
          <a:bodyPr/>
          <a:lstStyle/>
          <a:p>
            <a:endParaRPr lang="en-KE"/>
          </a:p>
        </p:txBody>
      </p:sp>
      <p:sp>
        <p:nvSpPr>
          <p:cNvPr id="23" name="Text 21"/>
          <p:cNvSpPr/>
          <p:nvPr/>
        </p:nvSpPr>
        <p:spPr>
          <a:xfrm>
            <a:off x="4343400" y="5358384"/>
            <a:ext cx="1371600" cy="347472"/>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Passed</a:t>
            </a:r>
            <a:endParaRPr lang="en-US" sz="1050" dirty="0"/>
          </a:p>
        </p:txBody>
      </p:sp>
      <p:sp>
        <p:nvSpPr>
          <p:cNvPr id="24" name="Shape 22"/>
          <p:cNvSpPr/>
          <p:nvPr/>
        </p:nvSpPr>
        <p:spPr>
          <a:xfrm>
            <a:off x="6208776" y="1545336"/>
            <a:ext cx="5458968" cy="2258568"/>
          </a:xfrm>
          <a:prstGeom prst="roundRect">
            <a:avLst>
              <a:gd name="adj" fmla="val 3239"/>
            </a:avLst>
          </a:prstGeom>
          <a:solidFill>
            <a:srgbClr val="FFFFFF"/>
          </a:solidFill>
          <a:ln w="12700">
            <a:solidFill>
              <a:srgbClr val="E2E8F0"/>
            </a:solidFill>
            <a:prstDash val="solid"/>
          </a:ln>
          <a:effectLst>
            <a:outerShdw blurRad="101600" dist="38100" dir="5400000" algn="bl" rotWithShape="0">
              <a:srgbClr val="1E2761">
                <a:alpha val="18000"/>
              </a:srgbClr>
            </a:outerShdw>
          </a:effectLst>
        </p:spPr>
        <p:txBody>
          <a:bodyPr/>
          <a:lstStyle/>
          <a:p>
            <a:endParaRPr lang="en-KE"/>
          </a:p>
        </p:txBody>
      </p:sp>
      <p:pic>
        <p:nvPicPr>
          <p:cNvPr id="25" name="Image 0" descr="media/Screenshot_2026-07-20_145938.png"/>
          <p:cNvPicPr>
            <a:picLocks noChangeAspect="1"/>
          </p:cNvPicPr>
          <p:nvPr/>
        </p:nvPicPr>
        <p:blipFill>
          <a:blip r:embed="rId3"/>
          <a:srcRect/>
          <a:stretch/>
        </p:blipFill>
        <p:spPr>
          <a:xfrm>
            <a:off x="6263640" y="1600200"/>
            <a:ext cx="5349240" cy="2148840"/>
          </a:xfrm>
          <a:prstGeom prst="rect">
            <a:avLst/>
          </a:prstGeom>
        </p:spPr>
      </p:pic>
      <p:sp>
        <p:nvSpPr>
          <p:cNvPr id="26" name="Text 23"/>
          <p:cNvSpPr/>
          <p:nvPr/>
        </p:nvSpPr>
        <p:spPr>
          <a:xfrm>
            <a:off x="6208776" y="3831336"/>
            <a:ext cx="5458968" cy="292608"/>
          </a:xfrm>
          <a:prstGeom prst="rect">
            <a:avLst/>
          </a:prstGeom>
          <a:noFill/>
          <a:ln/>
        </p:spPr>
        <p:txBody>
          <a:bodyPr wrap="square" rtlCol="0" anchor="ctr"/>
          <a:lstStyle/>
          <a:p>
            <a:pPr marL="0" indent="0" algn="ctr">
              <a:buNone/>
            </a:pPr>
            <a:r>
              <a:rPr lang="en-US" sz="1100" i="1" dirty="0">
                <a:solidFill>
                  <a:srgbClr val="5B6472"/>
                </a:solidFill>
                <a:latin typeface="Calibri" pitchFamily="34" charset="0"/>
                <a:ea typeface="Calibri" pitchFamily="34" charset="-122"/>
                <a:cs typeface="Calibri" pitchFamily="34" charset="-120"/>
              </a:rPr>
              <a:t>Evidence — test verification in OpenSearch Dashboards</a:t>
            </a:r>
            <a:endParaRPr lang="en-US" sz="1100" dirty="0"/>
          </a:p>
        </p:txBody>
      </p:sp>
      <p:sp>
        <p:nvSpPr>
          <p:cNvPr id="27" name="Shape 24"/>
          <p:cNvSpPr/>
          <p:nvPr/>
        </p:nvSpPr>
        <p:spPr>
          <a:xfrm>
            <a:off x="6208776" y="3922776"/>
            <a:ext cx="5458968" cy="2258568"/>
          </a:xfrm>
          <a:prstGeom prst="roundRect">
            <a:avLst>
              <a:gd name="adj" fmla="val 3239"/>
            </a:avLst>
          </a:prstGeom>
          <a:solidFill>
            <a:srgbClr val="FFFFFF"/>
          </a:solidFill>
          <a:ln w="12700">
            <a:solidFill>
              <a:srgbClr val="E2E8F0"/>
            </a:solidFill>
            <a:prstDash val="solid"/>
          </a:ln>
          <a:effectLst>
            <a:outerShdw blurRad="101600" dist="38100" dir="5400000" algn="bl" rotWithShape="0">
              <a:srgbClr val="1E2761">
                <a:alpha val="18000"/>
              </a:srgbClr>
            </a:outerShdw>
          </a:effectLst>
        </p:spPr>
        <p:txBody>
          <a:bodyPr/>
          <a:lstStyle/>
          <a:p>
            <a:endParaRPr lang="en-KE"/>
          </a:p>
        </p:txBody>
      </p:sp>
      <p:pic>
        <p:nvPicPr>
          <p:cNvPr id="28" name="Image 1" descr="media/Screenshot_2026-07-20_150109.png"/>
          <p:cNvPicPr>
            <a:picLocks noChangeAspect="1"/>
          </p:cNvPicPr>
          <p:nvPr/>
        </p:nvPicPr>
        <p:blipFill>
          <a:blip r:embed="rId4"/>
          <a:srcRect/>
          <a:stretch/>
        </p:blipFill>
        <p:spPr>
          <a:xfrm>
            <a:off x="6263640" y="3977640"/>
            <a:ext cx="5349240" cy="2148840"/>
          </a:xfrm>
          <a:prstGeom prst="rect">
            <a:avLst/>
          </a:prstGeom>
        </p:spPr>
      </p:pic>
      <p:sp>
        <p:nvSpPr>
          <p:cNvPr id="29" name="Text 25"/>
          <p:cNvSpPr/>
          <p:nvPr/>
        </p:nvSpPr>
        <p:spPr>
          <a:xfrm>
            <a:off x="6208776" y="6208776"/>
            <a:ext cx="5458968" cy="292608"/>
          </a:xfrm>
          <a:prstGeom prst="rect">
            <a:avLst/>
          </a:prstGeom>
          <a:noFill/>
          <a:ln/>
        </p:spPr>
        <p:txBody>
          <a:bodyPr wrap="square" rtlCol="0" anchor="ctr"/>
          <a:lstStyle/>
          <a:p>
            <a:pPr marL="0" indent="0" algn="ctr">
              <a:buNone/>
            </a:pPr>
            <a:r>
              <a:rPr lang="en-US" sz="1100" i="1" dirty="0">
                <a:solidFill>
                  <a:srgbClr val="5B6472"/>
                </a:solidFill>
                <a:latin typeface="Calibri" pitchFamily="34" charset="0"/>
                <a:ea typeface="Calibri" pitchFamily="34" charset="-122"/>
                <a:cs typeface="Calibri" pitchFamily="34" charset="-120"/>
              </a:rPr>
              <a:t>Evidence — indexed logs &amp; dashboard output</a:t>
            </a:r>
            <a:endParaRPr lang="en-US" sz="1100" dirty="0"/>
          </a:p>
        </p:txBody>
      </p:sp>
      <p:sp>
        <p:nvSpPr>
          <p:cNvPr id="30" name="Text 26"/>
          <p:cNvSpPr/>
          <p:nvPr/>
        </p:nvSpPr>
        <p:spPr>
          <a:xfrm>
            <a:off x="548640" y="6528816"/>
            <a:ext cx="7315200" cy="256032"/>
          </a:xfrm>
          <a:prstGeom prst="rect">
            <a:avLst/>
          </a:prstGeom>
          <a:noFill/>
          <a:ln/>
        </p:spPr>
        <p:txBody>
          <a:bodyPr wrap="square" rtlCol="0" anchor="ctr"/>
          <a:lstStyle/>
          <a:p>
            <a:pPr marL="0" indent="0">
              <a:buNone/>
            </a:pPr>
            <a:r>
              <a:rPr lang="en-US" sz="950" dirty="0">
                <a:solidFill>
                  <a:srgbClr val="9AA6C9"/>
                </a:solidFill>
                <a:latin typeface="Calibri" pitchFamily="34" charset="0"/>
                <a:ea typeface="Calibri" pitchFamily="34" charset="-122"/>
                <a:cs typeface="Calibri" pitchFamily="34" charset="-120"/>
              </a:rPr>
              <a:t>Centralized Log Monitoring System  |  Group 6</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92608"/>
          </a:xfrm>
          <a:prstGeom prst="rect">
            <a:avLst/>
          </a:prstGeom>
          <a:noFill/>
          <a:ln/>
        </p:spPr>
        <p:txBody>
          <a:bodyPr wrap="square"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PART E</a:t>
            </a:r>
            <a:endParaRPr lang="en-US" sz="1300" dirty="0"/>
          </a:p>
        </p:txBody>
      </p:sp>
      <p:sp>
        <p:nvSpPr>
          <p:cNvPr id="3" name="Text 1"/>
          <p:cNvSpPr/>
          <p:nvPr/>
        </p:nvSpPr>
        <p:spPr>
          <a:xfrm>
            <a:off x="548640" y="566928"/>
            <a:ext cx="10789920" cy="658368"/>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Vulnerabilities &amp; Recommendations</a:t>
            </a:r>
            <a:endParaRPr lang="en-US" sz="3000" dirty="0"/>
          </a:p>
        </p:txBody>
      </p:sp>
      <p:sp>
        <p:nvSpPr>
          <p:cNvPr id="4" name="Shape 2"/>
          <p:cNvSpPr/>
          <p:nvPr/>
        </p:nvSpPr>
        <p:spPr>
          <a:xfrm>
            <a:off x="548640" y="1536192"/>
            <a:ext cx="5349240" cy="4663440"/>
          </a:xfrm>
          <a:prstGeom prst="roundRect">
            <a:avLst>
              <a:gd name="adj" fmla="val 1765"/>
            </a:avLst>
          </a:prstGeom>
          <a:solidFill>
            <a:srgbClr val="FFFFFF"/>
          </a:solidFill>
          <a:ln w="12700">
            <a:solidFill>
              <a:srgbClr val="E2E8F0"/>
            </a:solidFill>
            <a:prstDash val="solid"/>
          </a:ln>
        </p:spPr>
        <p:txBody>
          <a:bodyPr/>
          <a:lstStyle/>
          <a:p>
            <a:endParaRPr lang="en-KE"/>
          </a:p>
        </p:txBody>
      </p:sp>
      <p:sp>
        <p:nvSpPr>
          <p:cNvPr id="5" name="Text 3"/>
          <p:cNvSpPr/>
          <p:nvPr/>
        </p:nvSpPr>
        <p:spPr>
          <a:xfrm>
            <a:off x="868680" y="1737360"/>
            <a:ext cx="4754880" cy="320040"/>
          </a:xfrm>
          <a:prstGeom prst="rect">
            <a:avLst/>
          </a:prstGeom>
          <a:noFill/>
          <a:ln/>
        </p:spPr>
        <p:txBody>
          <a:bodyPr wrap="square"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Vulnerabilities &amp; Risks</a:t>
            </a:r>
            <a:endParaRPr lang="en-US" sz="1600" dirty="0"/>
          </a:p>
        </p:txBody>
      </p:sp>
      <p:sp>
        <p:nvSpPr>
          <p:cNvPr id="6" name="Shape 4"/>
          <p:cNvSpPr/>
          <p:nvPr/>
        </p:nvSpPr>
        <p:spPr>
          <a:xfrm>
            <a:off x="868680" y="2240280"/>
            <a:ext cx="292608" cy="292608"/>
          </a:xfrm>
          <a:prstGeom prst="ellipse">
            <a:avLst/>
          </a:prstGeom>
          <a:solidFill>
            <a:srgbClr val="C0392B"/>
          </a:solidFill>
          <a:ln/>
        </p:spPr>
        <p:txBody>
          <a:bodyPr/>
          <a:lstStyle/>
          <a:p>
            <a:endParaRPr lang="en-KE"/>
          </a:p>
        </p:txBody>
      </p:sp>
      <p:sp>
        <p:nvSpPr>
          <p:cNvPr id="7" name="Text 5"/>
          <p:cNvSpPr/>
          <p:nvPr/>
        </p:nvSpPr>
        <p:spPr>
          <a:xfrm>
            <a:off x="868680" y="2240280"/>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8" name="Text 6"/>
          <p:cNvSpPr/>
          <p:nvPr/>
        </p:nvSpPr>
        <p:spPr>
          <a:xfrm>
            <a:off x="1298448" y="2203704"/>
            <a:ext cx="4389120" cy="365760"/>
          </a:xfrm>
          <a:prstGeom prst="rect">
            <a:avLst/>
          </a:prstGeom>
          <a:noFill/>
          <a:ln/>
        </p:spPr>
        <p:txBody>
          <a:bodyPr wrap="square" rtlCol="0" anchor="ctr"/>
          <a:lstStyle/>
          <a:p>
            <a:pPr marL="0" indent="0">
              <a:buNone/>
            </a:pPr>
            <a:r>
              <a:rPr lang="en-US" sz="1300" dirty="0">
                <a:solidFill>
                  <a:srgbClr val="1A1A2E"/>
                </a:solidFill>
                <a:latin typeface="Calibri" pitchFamily="34" charset="0"/>
                <a:ea typeface="Calibri" pitchFamily="34" charset="-122"/>
                <a:cs typeface="Calibri" pitchFamily="34" charset="-120"/>
              </a:rPr>
              <a:t>Authentication disabled</a:t>
            </a:r>
            <a:endParaRPr lang="en-US" sz="1300" dirty="0"/>
          </a:p>
        </p:txBody>
      </p:sp>
      <p:sp>
        <p:nvSpPr>
          <p:cNvPr id="9" name="Shape 7"/>
          <p:cNvSpPr/>
          <p:nvPr/>
        </p:nvSpPr>
        <p:spPr>
          <a:xfrm>
            <a:off x="868680" y="2724912"/>
            <a:ext cx="292608" cy="292608"/>
          </a:xfrm>
          <a:prstGeom prst="ellipse">
            <a:avLst/>
          </a:prstGeom>
          <a:solidFill>
            <a:srgbClr val="C0392B"/>
          </a:solidFill>
          <a:ln/>
        </p:spPr>
        <p:txBody>
          <a:bodyPr/>
          <a:lstStyle/>
          <a:p>
            <a:endParaRPr lang="en-KE"/>
          </a:p>
        </p:txBody>
      </p:sp>
      <p:sp>
        <p:nvSpPr>
          <p:cNvPr id="10" name="Text 8"/>
          <p:cNvSpPr/>
          <p:nvPr/>
        </p:nvSpPr>
        <p:spPr>
          <a:xfrm>
            <a:off x="868680" y="2724912"/>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1" name="Text 9"/>
          <p:cNvSpPr/>
          <p:nvPr/>
        </p:nvSpPr>
        <p:spPr>
          <a:xfrm>
            <a:off x="1298448" y="2688336"/>
            <a:ext cx="4389120" cy="365760"/>
          </a:xfrm>
          <a:prstGeom prst="rect">
            <a:avLst/>
          </a:prstGeom>
          <a:noFill/>
          <a:ln/>
        </p:spPr>
        <p:txBody>
          <a:bodyPr wrap="square" rtlCol="0" anchor="ctr"/>
          <a:lstStyle/>
          <a:p>
            <a:pPr marL="0" indent="0">
              <a:buNone/>
            </a:pPr>
            <a:r>
              <a:rPr lang="en-US" sz="1300" dirty="0">
                <a:solidFill>
                  <a:srgbClr val="1A1A2E"/>
                </a:solidFill>
                <a:latin typeface="Calibri" pitchFamily="34" charset="0"/>
                <a:ea typeface="Calibri" pitchFamily="34" charset="-122"/>
                <a:cs typeface="Calibri" pitchFamily="34" charset="-120"/>
              </a:rPr>
              <a:t>Security plugin disabled</a:t>
            </a:r>
            <a:endParaRPr lang="en-US" sz="1300" dirty="0"/>
          </a:p>
        </p:txBody>
      </p:sp>
      <p:sp>
        <p:nvSpPr>
          <p:cNvPr id="12" name="Shape 10"/>
          <p:cNvSpPr/>
          <p:nvPr/>
        </p:nvSpPr>
        <p:spPr>
          <a:xfrm>
            <a:off x="868680" y="3209544"/>
            <a:ext cx="292608" cy="292608"/>
          </a:xfrm>
          <a:prstGeom prst="ellipse">
            <a:avLst/>
          </a:prstGeom>
          <a:solidFill>
            <a:srgbClr val="C0392B"/>
          </a:solidFill>
          <a:ln/>
        </p:spPr>
        <p:txBody>
          <a:bodyPr/>
          <a:lstStyle/>
          <a:p>
            <a:endParaRPr lang="en-KE"/>
          </a:p>
        </p:txBody>
      </p:sp>
      <p:sp>
        <p:nvSpPr>
          <p:cNvPr id="13" name="Text 11"/>
          <p:cNvSpPr/>
          <p:nvPr/>
        </p:nvSpPr>
        <p:spPr>
          <a:xfrm>
            <a:off x="868680" y="3209544"/>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4" name="Text 12"/>
          <p:cNvSpPr/>
          <p:nvPr/>
        </p:nvSpPr>
        <p:spPr>
          <a:xfrm>
            <a:off x="1298448" y="3172968"/>
            <a:ext cx="4389120" cy="365760"/>
          </a:xfrm>
          <a:prstGeom prst="rect">
            <a:avLst/>
          </a:prstGeom>
          <a:noFill/>
          <a:ln/>
        </p:spPr>
        <p:txBody>
          <a:bodyPr wrap="square" rtlCol="0" anchor="ctr"/>
          <a:lstStyle/>
          <a:p>
            <a:pPr marL="0" indent="0">
              <a:buNone/>
            </a:pPr>
            <a:r>
              <a:rPr lang="en-US" sz="1300" dirty="0">
                <a:solidFill>
                  <a:srgbClr val="1A1A2E"/>
                </a:solidFill>
                <a:latin typeface="Calibri" pitchFamily="34" charset="0"/>
                <a:ea typeface="Calibri" pitchFamily="34" charset="-122"/>
                <a:cs typeface="Calibri" pitchFamily="34" charset="-120"/>
              </a:rPr>
              <a:t>Open network ports</a:t>
            </a:r>
            <a:endParaRPr lang="en-US" sz="1300" dirty="0"/>
          </a:p>
        </p:txBody>
      </p:sp>
      <p:sp>
        <p:nvSpPr>
          <p:cNvPr id="15" name="Shape 13"/>
          <p:cNvSpPr/>
          <p:nvPr/>
        </p:nvSpPr>
        <p:spPr>
          <a:xfrm>
            <a:off x="868680" y="3694176"/>
            <a:ext cx="292608" cy="292608"/>
          </a:xfrm>
          <a:prstGeom prst="ellipse">
            <a:avLst/>
          </a:prstGeom>
          <a:solidFill>
            <a:srgbClr val="C0392B"/>
          </a:solidFill>
          <a:ln/>
        </p:spPr>
        <p:txBody>
          <a:bodyPr/>
          <a:lstStyle/>
          <a:p>
            <a:endParaRPr lang="en-KE"/>
          </a:p>
        </p:txBody>
      </p:sp>
      <p:sp>
        <p:nvSpPr>
          <p:cNvPr id="16" name="Text 14"/>
          <p:cNvSpPr/>
          <p:nvPr/>
        </p:nvSpPr>
        <p:spPr>
          <a:xfrm>
            <a:off x="868680" y="3694176"/>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7" name="Text 15"/>
          <p:cNvSpPr/>
          <p:nvPr/>
        </p:nvSpPr>
        <p:spPr>
          <a:xfrm>
            <a:off x="1298448" y="3657600"/>
            <a:ext cx="4389120" cy="365760"/>
          </a:xfrm>
          <a:prstGeom prst="rect">
            <a:avLst/>
          </a:prstGeom>
          <a:noFill/>
          <a:ln/>
        </p:spPr>
        <p:txBody>
          <a:bodyPr wrap="square" rtlCol="0" anchor="ctr"/>
          <a:lstStyle/>
          <a:p>
            <a:pPr marL="0" indent="0">
              <a:buNone/>
            </a:pPr>
            <a:r>
              <a:rPr lang="en-US" sz="1300" dirty="0">
                <a:solidFill>
                  <a:srgbClr val="1A1A2E"/>
                </a:solidFill>
                <a:latin typeface="Calibri" pitchFamily="34" charset="0"/>
                <a:ea typeface="Calibri" pitchFamily="34" charset="-122"/>
                <a:cs typeface="Calibri" pitchFamily="34" charset="-120"/>
              </a:rPr>
              <a:t>No HTTPS encryption</a:t>
            </a:r>
            <a:endParaRPr lang="en-US" sz="1300" dirty="0"/>
          </a:p>
        </p:txBody>
      </p:sp>
      <p:sp>
        <p:nvSpPr>
          <p:cNvPr id="18" name="Shape 16"/>
          <p:cNvSpPr/>
          <p:nvPr/>
        </p:nvSpPr>
        <p:spPr>
          <a:xfrm>
            <a:off x="868680" y="4178808"/>
            <a:ext cx="292608" cy="292608"/>
          </a:xfrm>
          <a:prstGeom prst="ellipse">
            <a:avLst/>
          </a:prstGeom>
          <a:solidFill>
            <a:srgbClr val="C0392B"/>
          </a:solidFill>
          <a:ln/>
        </p:spPr>
        <p:txBody>
          <a:bodyPr/>
          <a:lstStyle/>
          <a:p>
            <a:endParaRPr lang="en-KE"/>
          </a:p>
        </p:txBody>
      </p:sp>
      <p:sp>
        <p:nvSpPr>
          <p:cNvPr id="19" name="Text 17"/>
          <p:cNvSpPr/>
          <p:nvPr/>
        </p:nvSpPr>
        <p:spPr>
          <a:xfrm>
            <a:off x="868680" y="4178808"/>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0" name="Text 18"/>
          <p:cNvSpPr/>
          <p:nvPr/>
        </p:nvSpPr>
        <p:spPr>
          <a:xfrm>
            <a:off x="1298448" y="4142232"/>
            <a:ext cx="4389120" cy="365760"/>
          </a:xfrm>
          <a:prstGeom prst="rect">
            <a:avLst/>
          </a:prstGeom>
          <a:noFill/>
          <a:ln/>
        </p:spPr>
        <p:txBody>
          <a:bodyPr wrap="square" rtlCol="0" anchor="ctr"/>
          <a:lstStyle/>
          <a:p>
            <a:pPr marL="0" indent="0">
              <a:buNone/>
            </a:pPr>
            <a:r>
              <a:rPr lang="en-US" sz="1300" dirty="0">
                <a:solidFill>
                  <a:srgbClr val="1A1A2E"/>
                </a:solidFill>
                <a:latin typeface="Calibri" pitchFamily="34" charset="0"/>
                <a:ea typeface="Calibri" pitchFamily="34" charset="-122"/>
                <a:cs typeface="Calibri" pitchFamily="34" charset="-120"/>
              </a:rPr>
              <a:t>No Role-Based Access Control</a:t>
            </a:r>
            <a:endParaRPr lang="en-US" sz="1300" dirty="0"/>
          </a:p>
        </p:txBody>
      </p:sp>
      <p:sp>
        <p:nvSpPr>
          <p:cNvPr id="21" name="Text 19"/>
          <p:cNvSpPr/>
          <p:nvPr/>
        </p:nvSpPr>
        <p:spPr>
          <a:xfrm>
            <a:off x="868680" y="4709160"/>
            <a:ext cx="4754880" cy="594360"/>
          </a:xfrm>
          <a:prstGeom prst="rect">
            <a:avLst/>
          </a:prstGeom>
          <a:noFill/>
          <a:ln/>
        </p:spPr>
        <p:txBody>
          <a:bodyPr wrap="square" rtlCol="0" anchor="ctr"/>
          <a:lstStyle/>
          <a:p>
            <a:pPr marL="0" indent="0">
              <a:lnSpc>
                <a:spcPts val="1400"/>
              </a:lnSpc>
              <a:buNone/>
            </a:pPr>
            <a:r>
              <a:rPr lang="en-US" sz="1100" b="1" dirty="0">
                <a:solidFill>
                  <a:srgbClr val="C0392B"/>
                </a:solidFill>
                <a:latin typeface="Calibri" pitchFamily="34" charset="0"/>
                <a:ea typeface="Calibri" pitchFamily="34" charset="-122"/>
                <a:cs typeface="Calibri" pitchFamily="34" charset="-120"/>
              </a:rPr>
              <a:t>Risks:  </a:t>
            </a:r>
            <a:r>
              <a:rPr lang="en-US" sz="1100" dirty="0">
                <a:solidFill>
                  <a:srgbClr val="5B6472"/>
                </a:solidFill>
                <a:latin typeface="Calibri" pitchFamily="34" charset="0"/>
                <a:ea typeface="Calibri" pitchFamily="34" charset="-122"/>
                <a:cs typeface="Calibri" pitchFamily="34" charset="-120"/>
              </a:rPr>
              <a:t>Unauthorized access • Data leakage • Log tampering • Service disruption</a:t>
            </a:r>
            <a:endParaRPr lang="en-US" sz="1100" dirty="0"/>
          </a:p>
        </p:txBody>
      </p:sp>
      <p:sp>
        <p:nvSpPr>
          <p:cNvPr id="22" name="Shape 20"/>
          <p:cNvSpPr/>
          <p:nvPr/>
        </p:nvSpPr>
        <p:spPr>
          <a:xfrm>
            <a:off x="6263640" y="1536192"/>
            <a:ext cx="5349240" cy="4663440"/>
          </a:xfrm>
          <a:prstGeom prst="roundRect">
            <a:avLst>
              <a:gd name="adj" fmla="val 1765"/>
            </a:avLst>
          </a:prstGeom>
          <a:solidFill>
            <a:srgbClr val="1E2761"/>
          </a:solidFill>
          <a:ln/>
        </p:spPr>
        <p:txBody>
          <a:bodyPr/>
          <a:lstStyle/>
          <a:p>
            <a:endParaRPr lang="en-KE"/>
          </a:p>
        </p:txBody>
      </p:sp>
      <p:sp>
        <p:nvSpPr>
          <p:cNvPr id="23" name="Text 21"/>
          <p:cNvSpPr/>
          <p:nvPr/>
        </p:nvSpPr>
        <p:spPr>
          <a:xfrm>
            <a:off x="6583680" y="1737360"/>
            <a:ext cx="4754880" cy="32004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Recommendations</a:t>
            </a:r>
            <a:endParaRPr lang="en-US" sz="1600" dirty="0"/>
          </a:p>
        </p:txBody>
      </p:sp>
      <p:sp>
        <p:nvSpPr>
          <p:cNvPr id="24" name="Shape 22"/>
          <p:cNvSpPr/>
          <p:nvPr/>
        </p:nvSpPr>
        <p:spPr>
          <a:xfrm>
            <a:off x="6583680" y="2240280"/>
            <a:ext cx="292608" cy="292608"/>
          </a:xfrm>
          <a:prstGeom prst="ellipse">
            <a:avLst/>
          </a:prstGeom>
          <a:solidFill>
            <a:srgbClr val="02C39A"/>
          </a:solidFill>
          <a:ln/>
        </p:spPr>
        <p:txBody>
          <a:bodyPr/>
          <a:lstStyle/>
          <a:p>
            <a:endParaRPr lang="en-KE"/>
          </a:p>
        </p:txBody>
      </p:sp>
      <p:sp>
        <p:nvSpPr>
          <p:cNvPr id="25" name="Text 23"/>
          <p:cNvSpPr/>
          <p:nvPr/>
        </p:nvSpPr>
        <p:spPr>
          <a:xfrm>
            <a:off x="6583680" y="2240280"/>
            <a:ext cx="292608" cy="292608"/>
          </a:xfrm>
          <a:prstGeom prst="rect">
            <a:avLst/>
          </a:prstGeom>
          <a:noFill/>
          <a:ln/>
        </p:spPr>
        <p:txBody>
          <a:bodyPr wrap="square"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a:t>
            </a:r>
            <a:endParaRPr lang="en-US" sz="1200" dirty="0"/>
          </a:p>
        </p:txBody>
      </p:sp>
      <p:sp>
        <p:nvSpPr>
          <p:cNvPr id="26" name="Text 24"/>
          <p:cNvSpPr/>
          <p:nvPr/>
        </p:nvSpPr>
        <p:spPr>
          <a:xfrm>
            <a:off x="7013448" y="2203704"/>
            <a:ext cx="4389120" cy="36576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Enable authentication</a:t>
            </a:r>
            <a:endParaRPr lang="en-US" sz="1300" dirty="0"/>
          </a:p>
        </p:txBody>
      </p:sp>
      <p:sp>
        <p:nvSpPr>
          <p:cNvPr id="27" name="Shape 25"/>
          <p:cNvSpPr/>
          <p:nvPr/>
        </p:nvSpPr>
        <p:spPr>
          <a:xfrm>
            <a:off x="6583680" y="2724912"/>
            <a:ext cx="292608" cy="292608"/>
          </a:xfrm>
          <a:prstGeom prst="ellipse">
            <a:avLst/>
          </a:prstGeom>
          <a:solidFill>
            <a:srgbClr val="02C39A"/>
          </a:solidFill>
          <a:ln/>
        </p:spPr>
        <p:txBody>
          <a:bodyPr/>
          <a:lstStyle/>
          <a:p>
            <a:endParaRPr lang="en-KE"/>
          </a:p>
        </p:txBody>
      </p:sp>
      <p:sp>
        <p:nvSpPr>
          <p:cNvPr id="28" name="Text 26"/>
          <p:cNvSpPr/>
          <p:nvPr/>
        </p:nvSpPr>
        <p:spPr>
          <a:xfrm>
            <a:off x="6583680" y="2724912"/>
            <a:ext cx="292608" cy="292608"/>
          </a:xfrm>
          <a:prstGeom prst="rect">
            <a:avLst/>
          </a:prstGeom>
          <a:noFill/>
          <a:ln/>
        </p:spPr>
        <p:txBody>
          <a:bodyPr wrap="square"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a:t>
            </a:r>
            <a:endParaRPr lang="en-US" sz="1200" dirty="0"/>
          </a:p>
        </p:txBody>
      </p:sp>
      <p:sp>
        <p:nvSpPr>
          <p:cNvPr id="29" name="Text 27"/>
          <p:cNvSpPr/>
          <p:nvPr/>
        </p:nvSpPr>
        <p:spPr>
          <a:xfrm>
            <a:off x="7013448" y="2688336"/>
            <a:ext cx="4389120" cy="36576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Configure HTTPS</a:t>
            </a:r>
            <a:endParaRPr lang="en-US" sz="1300" dirty="0"/>
          </a:p>
        </p:txBody>
      </p:sp>
      <p:sp>
        <p:nvSpPr>
          <p:cNvPr id="30" name="Shape 28"/>
          <p:cNvSpPr/>
          <p:nvPr/>
        </p:nvSpPr>
        <p:spPr>
          <a:xfrm>
            <a:off x="6583680" y="3209544"/>
            <a:ext cx="292608" cy="292608"/>
          </a:xfrm>
          <a:prstGeom prst="ellipse">
            <a:avLst/>
          </a:prstGeom>
          <a:solidFill>
            <a:srgbClr val="02C39A"/>
          </a:solidFill>
          <a:ln/>
        </p:spPr>
        <p:txBody>
          <a:bodyPr/>
          <a:lstStyle/>
          <a:p>
            <a:endParaRPr lang="en-KE"/>
          </a:p>
        </p:txBody>
      </p:sp>
      <p:sp>
        <p:nvSpPr>
          <p:cNvPr id="31" name="Text 29"/>
          <p:cNvSpPr/>
          <p:nvPr/>
        </p:nvSpPr>
        <p:spPr>
          <a:xfrm>
            <a:off x="6583680" y="3209544"/>
            <a:ext cx="292608" cy="292608"/>
          </a:xfrm>
          <a:prstGeom prst="rect">
            <a:avLst/>
          </a:prstGeom>
          <a:noFill/>
          <a:ln/>
        </p:spPr>
        <p:txBody>
          <a:bodyPr wrap="square"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a:t>
            </a:r>
            <a:endParaRPr lang="en-US" sz="1200" dirty="0"/>
          </a:p>
        </p:txBody>
      </p:sp>
      <p:sp>
        <p:nvSpPr>
          <p:cNvPr id="32" name="Text 30"/>
          <p:cNvSpPr/>
          <p:nvPr/>
        </p:nvSpPr>
        <p:spPr>
          <a:xfrm>
            <a:off x="7013448" y="3172968"/>
            <a:ext cx="4389120" cy="36576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Restrict exposed ports</a:t>
            </a:r>
            <a:endParaRPr lang="en-US" sz="1300" dirty="0"/>
          </a:p>
        </p:txBody>
      </p:sp>
      <p:sp>
        <p:nvSpPr>
          <p:cNvPr id="33" name="Shape 31"/>
          <p:cNvSpPr/>
          <p:nvPr/>
        </p:nvSpPr>
        <p:spPr>
          <a:xfrm>
            <a:off x="6583680" y="3694176"/>
            <a:ext cx="292608" cy="292608"/>
          </a:xfrm>
          <a:prstGeom prst="ellipse">
            <a:avLst/>
          </a:prstGeom>
          <a:solidFill>
            <a:srgbClr val="02C39A"/>
          </a:solidFill>
          <a:ln/>
        </p:spPr>
        <p:txBody>
          <a:bodyPr/>
          <a:lstStyle/>
          <a:p>
            <a:endParaRPr lang="en-KE"/>
          </a:p>
        </p:txBody>
      </p:sp>
      <p:sp>
        <p:nvSpPr>
          <p:cNvPr id="34" name="Text 32"/>
          <p:cNvSpPr/>
          <p:nvPr/>
        </p:nvSpPr>
        <p:spPr>
          <a:xfrm>
            <a:off x="6583680" y="3694176"/>
            <a:ext cx="292608" cy="292608"/>
          </a:xfrm>
          <a:prstGeom prst="rect">
            <a:avLst/>
          </a:prstGeom>
          <a:noFill/>
          <a:ln/>
        </p:spPr>
        <p:txBody>
          <a:bodyPr wrap="square"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a:t>
            </a:r>
            <a:endParaRPr lang="en-US" sz="1200" dirty="0"/>
          </a:p>
        </p:txBody>
      </p:sp>
      <p:sp>
        <p:nvSpPr>
          <p:cNvPr id="35" name="Text 33"/>
          <p:cNvSpPr/>
          <p:nvPr/>
        </p:nvSpPr>
        <p:spPr>
          <a:xfrm>
            <a:off x="7013448" y="3657600"/>
            <a:ext cx="4389120" cy="36576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Encrypt stored logs</a:t>
            </a:r>
            <a:endParaRPr lang="en-US" sz="1300" dirty="0"/>
          </a:p>
        </p:txBody>
      </p:sp>
      <p:sp>
        <p:nvSpPr>
          <p:cNvPr id="36" name="Shape 34"/>
          <p:cNvSpPr/>
          <p:nvPr/>
        </p:nvSpPr>
        <p:spPr>
          <a:xfrm>
            <a:off x="6583680" y="4178808"/>
            <a:ext cx="292608" cy="292608"/>
          </a:xfrm>
          <a:prstGeom prst="ellipse">
            <a:avLst/>
          </a:prstGeom>
          <a:solidFill>
            <a:srgbClr val="02C39A"/>
          </a:solidFill>
          <a:ln/>
        </p:spPr>
        <p:txBody>
          <a:bodyPr/>
          <a:lstStyle/>
          <a:p>
            <a:endParaRPr lang="en-KE"/>
          </a:p>
        </p:txBody>
      </p:sp>
      <p:sp>
        <p:nvSpPr>
          <p:cNvPr id="37" name="Text 35"/>
          <p:cNvSpPr/>
          <p:nvPr/>
        </p:nvSpPr>
        <p:spPr>
          <a:xfrm>
            <a:off x="6583680" y="4178808"/>
            <a:ext cx="292608" cy="292608"/>
          </a:xfrm>
          <a:prstGeom prst="rect">
            <a:avLst/>
          </a:prstGeom>
          <a:noFill/>
          <a:ln/>
        </p:spPr>
        <p:txBody>
          <a:bodyPr wrap="square"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a:t>
            </a:r>
            <a:endParaRPr lang="en-US" sz="1200" dirty="0"/>
          </a:p>
        </p:txBody>
      </p:sp>
      <p:sp>
        <p:nvSpPr>
          <p:cNvPr id="38" name="Text 36"/>
          <p:cNvSpPr/>
          <p:nvPr/>
        </p:nvSpPr>
        <p:spPr>
          <a:xfrm>
            <a:off x="7013448" y="4142232"/>
            <a:ext cx="4389120" cy="36576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Enable Role-Based Access Control</a:t>
            </a:r>
            <a:endParaRPr lang="en-US" sz="1300" dirty="0"/>
          </a:p>
        </p:txBody>
      </p:sp>
      <p:sp>
        <p:nvSpPr>
          <p:cNvPr id="39" name="Shape 37"/>
          <p:cNvSpPr/>
          <p:nvPr/>
        </p:nvSpPr>
        <p:spPr>
          <a:xfrm>
            <a:off x="6583680" y="4663440"/>
            <a:ext cx="292608" cy="292608"/>
          </a:xfrm>
          <a:prstGeom prst="ellipse">
            <a:avLst/>
          </a:prstGeom>
          <a:solidFill>
            <a:srgbClr val="02C39A"/>
          </a:solidFill>
          <a:ln/>
        </p:spPr>
        <p:txBody>
          <a:bodyPr/>
          <a:lstStyle/>
          <a:p>
            <a:endParaRPr lang="en-KE"/>
          </a:p>
        </p:txBody>
      </p:sp>
      <p:sp>
        <p:nvSpPr>
          <p:cNvPr id="40" name="Text 38"/>
          <p:cNvSpPr/>
          <p:nvPr/>
        </p:nvSpPr>
        <p:spPr>
          <a:xfrm>
            <a:off x="6583680" y="4663440"/>
            <a:ext cx="292608" cy="292608"/>
          </a:xfrm>
          <a:prstGeom prst="rect">
            <a:avLst/>
          </a:prstGeom>
          <a:noFill/>
          <a:ln/>
        </p:spPr>
        <p:txBody>
          <a:bodyPr wrap="square"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a:t>
            </a:r>
            <a:endParaRPr lang="en-US" sz="1200" dirty="0"/>
          </a:p>
        </p:txBody>
      </p:sp>
      <p:sp>
        <p:nvSpPr>
          <p:cNvPr id="41" name="Text 39"/>
          <p:cNvSpPr/>
          <p:nvPr/>
        </p:nvSpPr>
        <p:spPr>
          <a:xfrm>
            <a:off x="7013448" y="4626864"/>
            <a:ext cx="4389120" cy="36576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Perform regular vulnerability assessments</a:t>
            </a:r>
            <a:endParaRPr lang="en-US" sz="1300" dirty="0"/>
          </a:p>
        </p:txBody>
      </p:sp>
      <p:sp>
        <p:nvSpPr>
          <p:cNvPr id="42" name="Text 40"/>
          <p:cNvSpPr/>
          <p:nvPr/>
        </p:nvSpPr>
        <p:spPr>
          <a:xfrm>
            <a:off x="548640" y="6528816"/>
            <a:ext cx="7315200" cy="256032"/>
          </a:xfrm>
          <a:prstGeom prst="rect">
            <a:avLst/>
          </a:prstGeom>
          <a:noFill/>
          <a:ln/>
        </p:spPr>
        <p:txBody>
          <a:bodyPr wrap="square" rtlCol="0" anchor="ctr"/>
          <a:lstStyle/>
          <a:p>
            <a:pPr marL="0" indent="0">
              <a:buNone/>
            </a:pPr>
            <a:r>
              <a:rPr lang="en-US" sz="950" dirty="0">
                <a:solidFill>
                  <a:srgbClr val="9AA6C9"/>
                </a:solidFill>
                <a:latin typeface="Calibri" pitchFamily="34" charset="0"/>
                <a:ea typeface="Calibri" pitchFamily="34" charset="-122"/>
                <a:cs typeface="Calibri" pitchFamily="34" charset="-120"/>
              </a:rPr>
              <a:t>Centralized Log Monitoring System  |  Group 6</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2286000" y="-2286000"/>
            <a:ext cx="5486400" cy="5486400"/>
          </a:xfrm>
          <a:prstGeom prst="ellipse">
            <a:avLst/>
          </a:prstGeom>
          <a:solidFill>
            <a:srgbClr val="141B47"/>
          </a:solidFill>
          <a:ln/>
        </p:spPr>
        <p:txBody>
          <a:bodyPr/>
          <a:lstStyle/>
          <a:p>
            <a:endParaRPr lang="en-KE"/>
          </a:p>
        </p:txBody>
      </p:sp>
      <p:sp>
        <p:nvSpPr>
          <p:cNvPr id="3" name="Text 1"/>
          <p:cNvSpPr/>
          <p:nvPr/>
        </p:nvSpPr>
        <p:spPr>
          <a:xfrm>
            <a:off x="548640" y="457200"/>
            <a:ext cx="5486400" cy="320040"/>
          </a:xfrm>
          <a:prstGeom prst="rect">
            <a:avLst/>
          </a:prstGeom>
          <a:noFill/>
          <a:ln/>
        </p:spPr>
        <p:txBody>
          <a:bodyPr wrap="square" rtlCol="0" anchor="ctr"/>
          <a:lstStyle/>
          <a:p>
            <a:pPr marL="0" indent="0">
              <a:buNone/>
            </a:pPr>
            <a:r>
              <a:rPr lang="en-US" sz="1300" b="1" kern="0" spc="200" dirty="0">
                <a:solidFill>
                  <a:srgbClr val="02C39A"/>
                </a:solidFill>
                <a:latin typeface="Calibri" pitchFamily="34" charset="0"/>
                <a:ea typeface="Calibri" pitchFamily="34" charset="-122"/>
                <a:cs typeface="Calibri" pitchFamily="34" charset="-120"/>
              </a:rPr>
              <a:t>CONCLUSION</a:t>
            </a:r>
            <a:endParaRPr lang="en-US" sz="1300" dirty="0"/>
          </a:p>
        </p:txBody>
      </p:sp>
      <p:sp>
        <p:nvSpPr>
          <p:cNvPr id="4" name="Text 2"/>
          <p:cNvSpPr/>
          <p:nvPr/>
        </p:nvSpPr>
        <p:spPr>
          <a:xfrm>
            <a:off x="548640" y="731520"/>
            <a:ext cx="8229600" cy="59436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Executive Summary</a:t>
            </a:r>
            <a:endParaRPr lang="en-US" sz="3000" dirty="0"/>
          </a:p>
        </p:txBody>
      </p:sp>
      <p:sp>
        <p:nvSpPr>
          <p:cNvPr id="5" name="Shape 3"/>
          <p:cNvSpPr/>
          <p:nvPr/>
        </p:nvSpPr>
        <p:spPr>
          <a:xfrm>
            <a:off x="548640" y="1508760"/>
            <a:ext cx="329184" cy="329184"/>
          </a:xfrm>
          <a:prstGeom prst="ellipse">
            <a:avLst/>
          </a:prstGeom>
          <a:solidFill>
            <a:srgbClr val="02C39A"/>
          </a:solidFill>
          <a:ln/>
        </p:spPr>
        <p:txBody>
          <a:bodyPr/>
          <a:lstStyle/>
          <a:p>
            <a:endParaRPr lang="en-KE"/>
          </a:p>
        </p:txBody>
      </p:sp>
      <p:sp>
        <p:nvSpPr>
          <p:cNvPr id="6" name="Text 4"/>
          <p:cNvSpPr/>
          <p:nvPr/>
        </p:nvSpPr>
        <p:spPr>
          <a:xfrm>
            <a:off x="548640" y="1508760"/>
            <a:ext cx="329184" cy="329184"/>
          </a:xfrm>
          <a:prstGeom prst="rect">
            <a:avLst/>
          </a:prstGeom>
          <a:noFill/>
          <a:ln/>
        </p:spPr>
        <p:txBody>
          <a:bodyPr wrap="square"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a:t>
            </a:r>
            <a:endParaRPr lang="en-US" sz="1300" dirty="0"/>
          </a:p>
        </p:txBody>
      </p:sp>
      <p:sp>
        <p:nvSpPr>
          <p:cNvPr id="7" name="Text 5"/>
          <p:cNvSpPr/>
          <p:nvPr/>
        </p:nvSpPr>
        <p:spPr>
          <a:xfrm>
            <a:off x="1005840" y="1490472"/>
            <a:ext cx="5212080" cy="384048"/>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Built a centralized log monitoring system collecting from 3 sources</a:t>
            </a:r>
            <a:endParaRPr lang="en-US" sz="1250" dirty="0"/>
          </a:p>
        </p:txBody>
      </p:sp>
      <p:sp>
        <p:nvSpPr>
          <p:cNvPr id="8" name="Shape 6"/>
          <p:cNvSpPr/>
          <p:nvPr/>
        </p:nvSpPr>
        <p:spPr>
          <a:xfrm>
            <a:off x="548640" y="2011680"/>
            <a:ext cx="329184" cy="329184"/>
          </a:xfrm>
          <a:prstGeom prst="ellipse">
            <a:avLst/>
          </a:prstGeom>
          <a:solidFill>
            <a:srgbClr val="02C39A"/>
          </a:solidFill>
          <a:ln/>
        </p:spPr>
        <p:txBody>
          <a:bodyPr/>
          <a:lstStyle/>
          <a:p>
            <a:endParaRPr lang="en-KE"/>
          </a:p>
        </p:txBody>
      </p:sp>
      <p:sp>
        <p:nvSpPr>
          <p:cNvPr id="9" name="Text 7"/>
          <p:cNvSpPr/>
          <p:nvPr/>
        </p:nvSpPr>
        <p:spPr>
          <a:xfrm>
            <a:off x="548640" y="2011680"/>
            <a:ext cx="329184" cy="329184"/>
          </a:xfrm>
          <a:prstGeom prst="rect">
            <a:avLst/>
          </a:prstGeom>
          <a:noFill/>
          <a:ln/>
        </p:spPr>
        <p:txBody>
          <a:bodyPr wrap="square"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a:t>
            </a:r>
            <a:endParaRPr lang="en-US" sz="1300" dirty="0"/>
          </a:p>
        </p:txBody>
      </p:sp>
      <p:sp>
        <p:nvSpPr>
          <p:cNvPr id="10" name="Text 8"/>
          <p:cNvSpPr/>
          <p:nvPr/>
        </p:nvSpPr>
        <p:spPr>
          <a:xfrm>
            <a:off x="1005840" y="1993392"/>
            <a:ext cx="5212080" cy="384048"/>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Generated over 100,000 log records</a:t>
            </a:r>
            <a:endParaRPr lang="en-US" sz="1250" dirty="0"/>
          </a:p>
        </p:txBody>
      </p:sp>
      <p:sp>
        <p:nvSpPr>
          <p:cNvPr id="11" name="Shape 9"/>
          <p:cNvSpPr/>
          <p:nvPr/>
        </p:nvSpPr>
        <p:spPr>
          <a:xfrm>
            <a:off x="548640" y="2514600"/>
            <a:ext cx="329184" cy="329184"/>
          </a:xfrm>
          <a:prstGeom prst="ellipse">
            <a:avLst/>
          </a:prstGeom>
          <a:solidFill>
            <a:srgbClr val="02C39A"/>
          </a:solidFill>
          <a:ln/>
        </p:spPr>
        <p:txBody>
          <a:bodyPr/>
          <a:lstStyle/>
          <a:p>
            <a:endParaRPr lang="en-KE"/>
          </a:p>
        </p:txBody>
      </p:sp>
      <p:sp>
        <p:nvSpPr>
          <p:cNvPr id="12" name="Text 10"/>
          <p:cNvSpPr/>
          <p:nvPr/>
        </p:nvSpPr>
        <p:spPr>
          <a:xfrm>
            <a:off x="548640" y="2514600"/>
            <a:ext cx="329184" cy="329184"/>
          </a:xfrm>
          <a:prstGeom prst="rect">
            <a:avLst/>
          </a:prstGeom>
          <a:noFill/>
          <a:ln/>
        </p:spPr>
        <p:txBody>
          <a:bodyPr wrap="square"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a:t>
            </a:r>
            <a:endParaRPr lang="en-US" sz="1300" dirty="0"/>
          </a:p>
        </p:txBody>
      </p:sp>
      <p:sp>
        <p:nvSpPr>
          <p:cNvPr id="13" name="Text 11"/>
          <p:cNvSpPr/>
          <p:nvPr/>
        </p:nvSpPr>
        <p:spPr>
          <a:xfrm>
            <a:off x="1005840" y="2496312"/>
            <a:ext cx="5212080" cy="384048"/>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Stored and indexed logs using OpenSearch</a:t>
            </a:r>
            <a:endParaRPr lang="en-US" sz="1250" dirty="0"/>
          </a:p>
        </p:txBody>
      </p:sp>
      <p:sp>
        <p:nvSpPr>
          <p:cNvPr id="14" name="Shape 12"/>
          <p:cNvSpPr/>
          <p:nvPr/>
        </p:nvSpPr>
        <p:spPr>
          <a:xfrm>
            <a:off x="548640" y="3017520"/>
            <a:ext cx="329184" cy="329184"/>
          </a:xfrm>
          <a:prstGeom prst="ellipse">
            <a:avLst/>
          </a:prstGeom>
          <a:solidFill>
            <a:srgbClr val="02C39A"/>
          </a:solidFill>
          <a:ln/>
        </p:spPr>
        <p:txBody>
          <a:bodyPr/>
          <a:lstStyle/>
          <a:p>
            <a:endParaRPr lang="en-KE"/>
          </a:p>
        </p:txBody>
      </p:sp>
      <p:sp>
        <p:nvSpPr>
          <p:cNvPr id="15" name="Text 13"/>
          <p:cNvSpPr/>
          <p:nvPr/>
        </p:nvSpPr>
        <p:spPr>
          <a:xfrm>
            <a:off x="548640" y="3017520"/>
            <a:ext cx="329184" cy="329184"/>
          </a:xfrm>
          <a:prstGeom prst="rect">
            <a:avLst/>
          </a:prstGeom>
          <a:noFill/>
          <a:ln/>
        </p:spPr>
        <p:txBody>
          <a:bodyPr wrap="square"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a:t>
            </a:r>
            <a:endParaRPr lang="en-US" sz="1300" dirty="0"/>
          </a:p>
        </p:txBody>
      </p:sp>
      <p:sp>
        <p:nvSpPr>
          <p:cNvPr id="16" name="Text 14"/>
          <p:cNvSpPr/>
          <p:nvPr/>
        </p:nvSpPr>
        <p:spPr>
          <a:xfrm>
            <a:off x="1005840" y="2999232"/>
            <a:ext cx="5212080" cy="384048"/>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Built dashboards for live monitoring</a:t>
            </a:r>
            <a:endParaRPr lang="en-US" sz="1250" dirty="0"/>
          </a:p>
        </p:txBody>
      </p:sp>
      <p:sp>
        <p:nvSpPr>
          <p:cNvPr id="17" name="Shape 15"/>
          <p:cNvSpPr/>
          <p:nvPr/>
        </p:nvSpPr>
        <p:spPr>
          <a:xfrm>
            <a:off x="548640" y="3520440"/>
            <a:ext cx="329184" cy="329184"/>
          </a:xfrm>
          <a:prstGeom prst="ellipse">
            <a:avLst/>
          </a:prstGeom>
          <a:solidFill>
            <a:srgbClr val="02C39A"/>
          </a:solidFill>
          <a:ln/>
        </p:spPr>
        <p:txBody>
          <a:bodyPr/>
          <a:lstStyle/>
          <a:p>
            <a:endParaRPr lang="en-KE"/>
          </a:p>
        </p:txBody>
      </p:sp>
      <p:sp>
        <p:nvSpPr>
          <p:cNvPr id="18" name="Text 16"/>
          <p:cNvSpPr/>
          <p:nvPr/>
        </p:nvSpPr>
        <p:spPr>
          <a:xfrm>
            <a:off x="548640" y="3520440"/>
            <a:ext cx="329184" cy="329184"/>
          </a:xfrm>
          <a:prstGeom prst="rect">
            <a:avLst/>
          </a:prstGeom>
          <a:noFill/>
          <a:ln/>
        </p:spPr>
        <p:txBody>
          <a:bodyPr wrap="square"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a:t>
            </a:r>
            <a:endParaRPr lang="en-US" sz="1300" dirty="0"/>
          </a:p>
        </p:txBody>
      </p:sp>
      <p:sp>
        <p:nvSpPr>
          <p:cNvPr id="19" name="Text 17"/>
          <p:cNvSpPr/>
          <p:nvPr/>
        </p:nvSpPr>
        <p:spPr>
          <a:xfrm>
            <a:off x="1005840" y="3502152"/>
            <a:ext cx="5212080" cy="384048"/>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Demonstrated attack detection via failed-login monitoring</a:t>
            </a:r>
            <a:endParaRPr lang="en-US" sz="1250" dirty="0"/>
          </a:p>
        </p:txBody>
      </p:sp>
      <p:sp>
        <p:nvSpPr>
          <p:cNvPr id="20" name="Shape 18"/>
          <p:cNvSpPr/>
          <p:nvPr/>
        </p:nvSpPr>
        <p:spPr>
          <a:xfrm>
            <a:off x="548640" y="4023360"/>
            <a:ext cx="329184" cy="329184"/>
          </a:xfrm>
          <a:prstGeom prst="ellipse">
            <a:avLst/>
          </a:prstGeom>
          <a:solidFill>
            <a:srgbClr val="02C39A"/>
          </a:solidFill>
          <a:ln/>
        </p:spPr>
        <p:txBody>
          <a:bodyPr/>
          <a:lstStyle/>
          <a:p>
            <a:endParaRPr lang="en-KE"/>
          </a:p>
        </p:txBody>
      </p:sp>
      <p:sp>
        <p:nvSpPr>
          <p:cNvPr id="21" name="Text 19"/>
          <p:cNvSpPr/>
          <p:nvPr/>
        </p:nvSpPr>
        <p:spPr>
          <a:xfrm>
            <a:off x="548640" y="4023360"/>
            <a:ext cx="329184" cy="329184"/>
          </a:xfrm>
          <a:prstGeom prst="rect">
            <a:avLst/>
          </a:prstGeom>
          <a:noFill/>
          <a:ln/>
        </p:spPr>
        <p:txBody>
          <a:bodyPr wrap="square"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a:t>
            </a:r>
            <a:endParaRPr lang="en-US" sz="1300" dirty="0"/>
          </a:p>
        </p:txBody>
      </p:sp>
      <p:sp>
        <p:nvSpPr>
          <p:cNvPr id="22" name="Text 20"/>
          <p:cNvSpPr/>
          <p:nvPr/>
        </p:nvSpPr>
        <p:spPr>
          <a:xfrm>
            <a:off x="1005840" y="4005072"/>
            <a:ext cx="5212080" cy="384048"/>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Identified vulnerabilities and proposed security improvements</a:t>
            </a:r>
            <a:endParaRPr lang="en-US" sz="1250" dirty="0"/>
          </a:p>
        </p:txBody>
      </p:sp>
      <p:sp>
        <p:nvSpPr>
          <p:cNvPr id="23" name="Shape 21"/>
          <p:cNvSpPr/>
          <p:nvPr/>
        </p:nvSpPr>
        <p:spPr>
          <a:xfrm>
            <a:off x="6446520" y="1508760"/>
            <a:ext cx="5166360" cy="4709160"/>
          </a:xfrm>
          <a:prstGeom prst="roundRect">
            <a:avLst>
              <a:gd name="adj" fmla="val 1942"/>
            </a:avLst>
          </a:prstGeom>
          <a:solidFill>
            <a:srgbClr val="028090"/>
          </a:solidFill>
          <a:ln/>
        </p:spPr>
        <p:txBody>
          <a:bodyPr/>
          <a:lstStyle/>
          <a:p>
            <a:endParaRPr lang="en-KE"/>
          </a:p>
        </p:txBody>
      </p:sp>
      <p:sp>
        <p:nvSpPr>
          <p:cNvPr id="24" name="Text 22"/>
          <p:cNvSpPr/>
          <p:nvPr/>
        </p:nvSpPr>
        <p:spPr>
          <a:xfrm>
            <a:off x="6766560" y="1737360"/>
            <a:ext cx="4572000" cy="365760"/>
          </a:xfrm>
          <a:prstGeom prst="rect">
            <a:avLst/>
          </a:prstGeom>
          <a:noFill/>
          <a:ln/>
        </p:spPr>
        <p:txBody>
          <a:bodyPr wrap="square"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Conclusion</a:t>
            </a:r>
            <a:endParaRPr lang="en-US" sz="1700" dirty="0"/>
          </a:p>
        </p:txBody>
      </p:sp>
      <p:sp>
        <p:nvSpPr>
          <p:cNvPr id="25" name="Text 23"/>
          <p:cNvSpPr/>
          <p:nvPr/>
        </p:nvSpPr>
        <p:spPr>
          <a:xfrm>
            <a:off x="6766560" y="2194560"/>
            <a:ext cx="4572000" cy="3794760"/>
          </a:xfrm>
          <a:prstGeom prst="rect">
            <a:avLst/>
          </a:prstGeom>
          <a:noFill/>
          <a:ln/>
        </p:spPr>
        <p:txBody>
          <a:bodyPr wrap="square" rtlCol="0" anchor="ctr"/>
          <a:lstStyle/>
          <a:p>
            <a:pPr marL="0" indent="0">
              <a:lnSpc>
                <a:spcPts val="2000"/>
              </a:lnSpc>
              <a:buNone/>
            </a:pPr>
            <a:r>
              <a:rPr lang="en-US" sz="1350" dirty="0">
                <a:solidFill>
                  <a:srgbClr val="FFFFFF"/>
                </a:solidFill>
                <a:latin typeface="Calibri" pitchFamily="34" charset="0"/>
                <a:ea typeface="Calibri" pitchFamily="34" charset="-122"/>
                <a:cs typeface="Calibri" pitchFamily="34" charset="-120"/>
              </a:rPr>
              <a:t>Centralized logging improves security monitoring by giving administrators a single platform to collect, analyze, and visualize system logs.</a:t>
            </a:r>
            <a:endParaRPr lang="en-US" sz="1350" dirty="0"/>
          </a:p>
          <a:p>
            <a:pPr marL="0" indent="0">
              <a:lnSpc>
                <a:spcPts val="2000"/>
              </a:lnSpc>
              <a:buNone/>
            </a:pPr>
            <a:endParaRPr lang="en-US" sz="1350" dirty="0"/>
          </a:p>
          <a:p>
            <a:pPr marL="0" indent="0">
              <a:lnSpc>
                <a:spcPts val="2000"/>
              </a:lnSpc>
              <a:buNone/>
            </a:pPr>
            <a:r>
              <a:rPr lang="en-US" sz="1350" dirty="0">
                <a:solidFill>
                  <a:srgbClr val="FFFFFF"/>
                </a:solidFill>
                <a:latin typeface="Calibri" pitchFamily="34" charset="0"/>
                <a:ea typeface="Calibri" pitchFamily="34" charset="-122"/>
                <a:cs typeface="Calibri" pitchFamily="34" charset="-120"/>
              </a:rPr>
              <a:t>The system meets the assignment's functional requirements; adding authentication, encryption, and role-based access control would prepare it for production use.</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1148</Words>
  <Application>Microsoft Office PowerPoint</Application>
  <PresentationFormat>Widescreen</PresentationFormat>
  <Paragraphs>202</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Richard H Muchaki</cp:lastModifiedBy>
  <cp:revision>2</cp:revision>
  <dcterms:created xsi:type="dcterms:W3CDTF">2026-07-20T19:40:52Z</dcterms:created>
  <dcterms:modified xsi:type="dcterms:W3CDTF">2026-07-20T20:18:22Z</dcterms:modified>
</cp:coreProperties>
</file>